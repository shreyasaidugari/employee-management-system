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0"/>
  </p:notesMasterIdLst>
  <p:sldIdLst>
    <p:sldId id="256" r:id="rId2"/>
    <p:sldId id="283" r:id="rId3"/>
    <p:sldId id="260" r:id="rId4"/>
    <p:sldId id="261" r:id="rId5"/>
    <p:sldId id="285" r:id="rId6"/>
    <p:sldId id="262" r:id="rId7"/>
    <p:sldId id="266" r:id="rId8"/>
    <p:sldId id="263" r:id="rId9"/>
    <p:sldId id="264" r:id="rId10"/>
    <p:sldId id="265" r:id="rId11"/>
    <p:sldId id="267" r:id="rId12"/>
    <p:sldId id="268" r:id="rId13"/>
    <p:sldId id="269" r:id="rId14"/>
    <p:sldId id="270" r:id="rId15"/>
    <p:sldId id="271" r:id="rId16"/>
    <p:sldId id="272" r:id="rId17"/>
    <p:sldId id="273" r:id="rId18"/>
    <p:sldId id="274" r:id="rId19"/>
    <p:sldId id="275" r:id="rId20"/>
    <p:sldId id="277" r:id="rId21"/>
    <p:sldId id="278" r:id="rId22"/>
    <p:sldId id="279" r:id="rId23"/>
    <p:sldId id="280" r:id="rId24"/>
    <p:sldId id="281" r:id="rId25"/>
    <p:sldId id="282" r:id="rId26"/>
    <p:sldId id="284" r:id="rId27"/>
    <p:sldId id="286" r:id="rId28"/>
    <p:sldId id="259" r:id="rId29"/>
  </p:sldIdLst>
  <p:sldSz cx="12192000" cy="6858000"/>
  <p:notesSz cx="6858000" cy="9144000"/>
  <p:embeddedFontLst>
    <p:embeddedFont>
      <p:font typeface="Libre Baskerville" panose="02000000000000000000" pitchFamily="2" charset="0"/>
      <p:regular r:id="rId31"/>
      <p:bold r:id="rId32"/>
      <p:italic r:id="rId33"/>
    </p:embeddedFont>
    <p:embeddedFont>
      <p:font typeface="Sitka Display" pitchFamily="2" charset="0"/>
      <p:regular r:id="rId34"/>
      <p:bold r:id="rId35"/>
      <p:italic r:id="rId36"/>
      <p:boldItalic r:id="rId3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8" roundtripDataSignature="AMtx7mi4HmEECUlll0m8HTY06QsqsmZGG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503" autoAdjust="0"/>
    <p:restoredTop sz="94660"/>
  </p:normalViewPr>
  <p:slideViewPr>
    <p:cSldViewPr snapToGrid="0">
      <p:cViewPr varScale="1">
        <p:scale>
          <a:sx n="78" d="100"/>
          <a:sy n="78" d="100"/>
        </p:scale>
        <p:origin x="763"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font" Target="fonts/font4.fntdata"/><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2.fntdata"/><Relationship Id="rId37" Type="http://schemas.openxmlformats.org/officeDocument/2006/relationships/font" Target="fonts/font7.fntdata"/><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6.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font" Target="fonts/font5.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3.fntdata"/><Relationship Id="rId38"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7"/>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
        <p:cNvGrpSpPr/>
        <p:nvPr/>
      </p:nvGrpSpPr>
      <p:grpSpPr>
        <a:xfrm>
          <a:off x="0" y="0"/>
          <a:ext cx="0" cy="0"/>
          <a:chOff x="0" y="0"/>
          <a:chExt cx="0" cy="0"/>
        </a:xfrm>
      </p:grpSpPr>
      <p:sp>
        <p:nvSpPr>
          <p:cNvPr id="22" name="Google Shape;2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5" name="Google Shape;25;p9"/>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2" name="Google Shape;32;p10"/>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3"/>
        <p:cNvGrpSpPr/>
        <p:nvPr/>
      </p:nvGrpSpPr>
      <p:grpSpPr>
        <a:xfrm>
          <a:off x="0" y="0"/>
          <a:ext cx="0" cy="0"/>
          <a:chOff x="0" y="0"/>
          <a:chExt cx="0" cy="0"/>
        </a:xfrm>
      </p:grpSpPr>
      <p:sp>
        <p:nvSpPr>
          <p:cNvPr id="34" name="Google Shape;34;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6" name="Google Shape;36;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9" name="Google Shape;39;p8"/>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46" name="Google Shape;46;p11"/>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54" name="Google Shape;54;p12"/>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64" name="Google Shape;64;p13"/>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72" name="Google Shape;72;p14"/>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5"/>
          <p:cNvSpPr>
            <a:spLocks noGrp="1"/>
          </p:cNvSpPr>
          <p:nvPr>
            <p:ph type="pic" idx="2"/>
          </p:nvPr>
        </p:nvSpPr>
        <p:spPr>
          <a:xfrm>
            <a:off x="5183188" y="987425"/>
            <a:ext cx="6172200" cy="4873625"/>
          </a:xfrm>
          <a:prstGeom prst="rect">
            <a:avLst/>
          </a:prstGeom>
          <a:noFill/>
          <a:ln>
            <a:noFill/>
          </a:ln>
        </p:spPr>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0" name="Google Shape;80;p15"/>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7" name="Google Shape;87;p16"/>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1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1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1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1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1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1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1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18.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 Id="rId4" Type="http://schemas.openxmlformats.org/officeDocument/2006/relationships/image" Target="../media/image49.png"/></Relationships>
</file>

<file path=ppt/slides/_rels/slide1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 Id="rId4" Type="http://schemas.openxmlformats.org/officeDocument/2006/relationships/image" Target="../media/image52.png"/></Relationships>
</file>

<file path=ppt/slides/_rels/slide20.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 Id="rId4" Type="http://schemas.openxmlformats.org/officeDocument/2006/relationships/image" Target="../media/image55.png"/></Relationships>
</file>

<file path=ppt/slides/_rels/slide21.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2.xml"/><Relationship Id="rId4" Type="http://schemas.openxmlformats.org/officeDocument/2006/relationships/image" Target="../media/image58.png"/></Relationships>
</file>

<file path=ppt/slides/_rels/slide22.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2.xml"/><Relationship Id="rId4" Type="http://schemas.openxmlformats.org/officeDocument/2006/relationships/image" Target="../media/image61.png"/></Relationships>
</file>

<file path=ppt/slides/_rels/slide23.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2.xml"/><Relationship Id="rId4" Type="http://schemas.openxmlformats.org/officeDocument/2006/relationships/image" Target="../media/image64.png"/></Relationships>
</file>

<file path=ppt/slides/_rels/slide24.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2.xml"/><Relationship Id="rId4" Type="http://schemas.openxmlformats.org/officeDocument/2006/relationships/image" Target="../media/image67.png"/></Relationships>
</file>

<file path=ppt/slides/_rels/slide25.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2.xml"/><Relationship Id="rId4" Type="http://schemas.openxmlformats.org/officeDocument/2006/relationships/image" Target="../media/image70.png"/></Relationships>
</file>

<file path=ppt/slides/_rels/slide26.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2.xml"/><Relationship Id="rId4" Type="http://schemas.openxmlformats.org/officeDocument/2006/relationships/image" Target="../media/image7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592" y="0"/>
            <a:ext cx="12190815" cy="6694098"/>
          </a:xfrm>
          <a:prstGeom prst="rect">
            <a:avLst/>
          </a:prstGeom>
          <a:noFill/>
          <a:ln>
            <a:noFill/>
          </a:ln>
        </p:spPr>
      </p:pic>
      <p:sp>
        <p:nvSpPr>
          <p:cNvPr id="99" name="Google Shape;99;p1"/>
          <p:cNvSpPr txBox="1"/>
          <p:nvPr/>
        </p:nvSpPr>
        <p:spPr>
          <a:xfrm>
            <a:off x="2930105" y="3687506"/>
            <a:ext cx="6366296" cy="2185173"/>
          </a:xfrm>
          <a:prstGeom prst="rect">
            <a:avLst/>
          </a:prstGeom>
          <a:noFill/>
          <a:ln>
            <a:noFill/>
          </a:ln>
        </p:spPr>
        <p:txBody>
          <a:bodyPr spcFirstLastPara="1" wrap="square" lIns="91425" tIns="45700" rIns="91425" bIns="45700" anchor="t" anchorCtr="0">
            <a:spAutoFit/>
          </a:bodyPr>
          <a:lstStyle/>
          <a:p>
            <a:pPr lvl="0" algn="ctr">
              <a:buSzPts val="1800"/>
            </a:pPr>
            <a:br>
              <a:rPr lang="en-IN" sz="1600" b="0" i="0" u="none" strike="noStrike" cap="none" dirty="0">
                <a:solidFill>
                  <a:schemeClr val="dk1"/>
                </a:solidFill>
                <a:latin typeface="Calibri"/>
                <a:ea typeface="Calibri"/>
                <a:cs typeface="Calibri"/>
                <a:sym typeface="Calibri"/>
              </a:rPr>
            </a:br>
            <a:r>
              <a:rPr lang="en-IN" sz="3000" b="1" dirty="0"/>
              <a:t>Employee Management System</a:t>
            </a:r>
          </a:p>
          <a:p>
            <a:pPr lvl="0" algn="ctr">
              <a:buSzPts val="1800"/>
            </a:pPr>
            <a:r>
              <a:rPr lang="en-IN" sz="3000" b="1" dirty="0"/>
              <a:t> </a:t>
            </a:r>
          </a:p>
          <a:p>
            <a:pPr lvl="0" algn="ctr">
              <a:buSzPts val="1800"/>
            </a:pPr>
            <a:endParaRPr lang="en-IN" sz="3000" b="1" dirty="0"/>
          </a:p>
          <a:p>
            <a:pPr lvl="0" algn="ctr">
              <a:buSzPts val="1800"/>
            </a:pPr>
            <a:endParaRPr sz="3000" b="0" i="0" u="none" strike="noStrike" cap="none" dirty="0">
              <a:solidFill>
                <a:srgbClr val="000000"/>
              </a:solidFill>
              <a:latin typeface="Arial"/>
              <a:ea typeface="Arial"/>
              <a:cs typeface="Arial"/>
              <a:sym typeface="Arial"/>
            </a:endParaRPr>
          </a:p>
        </p:txBody>
      </p:sp>
      <p:pic>
        <p:nvPicPr>
          <p:cNvPr id="5" name="Picture 4">
            <a:extLst>
              <a:ext uri="{FF2B5EF4-FFF2-40B4-BE49-F238E27FC236}">
                <a16:creationId xmlns:a16="http://schemas.microsoft.com/office/drawing/2014/main" id="{E3C08562-7119-3D23-A6CA-EC1F0007F3BC}"/>
              </a:ext>
            </a:extLst>
          </p:cNvPr>
          <p:cNvPicPr>
            <a:picLocks noChangeAspect="1"/>
          </p:cNvPicPr>
          <p:nvPr/>
        </p:nvPicPr>
        <p:blipFill>
          <a:blip r:embed="rId4"/>
          <a:stretch>
            <a:fillRect/>
          </a:stretch>
        </p:blipFill>
        <p:spPr>
          <a:xfrm>
            <a:off x="9495691" y="5791200"/>
            <a:ext cx="2695716" cy="90289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2A1C23F-8713-0755-AE51-B37D3430D0DA}"/>
              </a:ext>
            </a:extLst>
          </p:cNvPr>
          <p:cNvSpPr txBox="1"/>
          <p:nvPr/>
        </p:nvSpPr>
        <p:spPr>
          <a:xfrm>
            <a:off x="0" y="0"/>
            <a:ext cx="12192000" cy="5155257"/>
          </a:xfrm>
          <a:prstGeom prst="rect">
            <a:avLst/>
          </a:prstGeom>
          <a:noFill/>
        </p:spPr>
        <p:txBody>
          <a:bodyPr wrap="square">
            <a:spAutoFit/>
          </a:bodyPr>
          <a:lstStyle/>
          <a:p>
            <a:pPr>
              <a:buNone/>
            </a:pPr>
            <a:endParaRPr lang="en-US" sz="3000" b="1" dirty="0">
              <a:latin typeface="Times New Roman" panose="02020603050405020304" pitchFamily="18" charset="0"/>
              <a:cs typeface="Times New Roman" panose="02020603050405020304" pitchFamily="18" charset="0"/>
            </a:endParaRPr>
          </a:p>
          <a:p>
            <a:pPr algn="ctr">
              <a:buNone/>
            </a:pPr>
            <a:r>
              <a:rPr lang="en-US" sz="3500" b="1" dirty="0">
                <a:latin typeface="Times New Roman" panose="02020603050405020304" pitchFamily="18" charset="0"/>
                <a:cs typeface="Times New Roman" panose="02020603050405020304" pitchFamily="18" charset="0"/>
              </a:rPr>
              <a:t>Introduction</a:t>
            </a:r>
          </a:p>
          <a:p>
            <a:pPr>
              <a:buNone/>
            </a:pPr>
            <a:endParaRPr lang="en-US" sz="3000" b="1" dirty="0">
              <a:latin typeface="Times New Roman" panose="02020603050405020304" pitchFamily="18" charset="0"/>
              <a:cs typeface="Times New Roman" panose="02020603050405020304" pitchFamily="18" charset="0"/>
            </a:endParaRPr>
          </a:p>
          <a:p>
            <a:pPr>
              <a:buNone/>
            </a:pPr>
            <a:r>
              <a:rPr lang="en-US" sz="2600" dirty="0">
                <a:latin typeface="Sitka Display" pitchFamily="2" charset="0"/>
                <a:cs typeface="Times New Roman" panose="02020603050405020304" pitchFamily="18" charset="0"/>
              </a:rPr>
              <a:t>The Employee Management System (EMS) is designed to make it easier for organizations to manage employee information in one place. It stores details such as personal data, job roles, salaries, qualifications, leaves, and payroll records. By using relational tables with foreign keys and cascading actions, the system ensures data accuracy and consistency.</a:t>
            </a:r>
          </a:p>
          <a:p>
            <a:pPr>
              <a:buNone/>
            </a:pPr>
            <a:endParaRPr lang="en-US" sz="2600" dirty="0">
              <a:latin typeface="Sitka Display" pitchFamily="2" charset="0"/>
              <a:cs typeface="Times New Roman" panose="02020603050405020304" pitchFamily="18" charset="0"/>
            </a:endParaRPr>
          </a:p>
          <a:p>
            <a:pPr>
              <a:buNone/>
            </a:pPr>
            <a:r>
              <a:rPr lang="en-US" sz="2600" dirty="0">
                <a:latin typeface="Sitka Display" pitchFamily="2" charset="0"/>
                <a:cs typeface="Times New Roman" panose="02020603050405020304" pitchFamily="18" charset="0"/>
              </a:rPr>
              <a:t>This system helps HR teams handle tasks like payroll calculation, leave tracking, and department-wise job role management more efficiently. It reduces manual errors, saves time, and provides useful insights for decision-making. Overall, EMS improves the organization’s workflow and ensures employee data is secure, updated, and easy to access</a:t>
            </a:r>
          </a:p>
        </p:txBody>
      </p:sp>
    </p:spTree>
    <p:extLst>
      <p:ext uri="{BB962C8B-B14F-4D97-AF65-F5344CB8AC3E}">
        <p14:creationId xmlns:p14="http://schemas.microsoft.com/office/powerpoint/2010/main" val="7563115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092FAD-C655-548C-B700-0C04417BC10B}"/>
              </a:ext>
            </a:extLst>
          </p:cNvPr>
          <p:cNvSpPr>
            <a:spLocks noGrp="1"/>
          </p:cNvSpPr>
          <p:nvPr>
            <p:ph type="title"/>
          </p:nvPr>
        </p:nvSpPr>
        <p:spPr>
          <a:xfrm>
            <a:off x="838200" y="18255"/>
            <a:ext cx="10515600" cy="1325563"/>
          </a:xfrm>
        </p:spPr>
        <p:txBody>
          <a:bodyPr/>
          <a:lstStyle/>
          <a:p>
            <a:pPr algn="ctr"/>
            <a:r>
              <a:rPr lang="en-IN" sz="3000" b="1" dirty="0">
                <a:solidFill>
                  <a:srgbClr val="FF0000"/>
                </a:solidFill>
                <a:latin typeface="+mj-lt"/>
              </a:rPr>
              <a:t>ER Diagram </a:t>
            </a:r>
            <a:br>
              <a:rPr lang="en-IN" b="1" dirty="0"/>
            </a:br>
            <a:endParaRPr lang="en-IN" dirty="0"/>
          </a:p>
        </p:txBody>
      </p:sp>
      <p:sp>
        <p:nvSpPr>
          <p:cNvPr id="3" name="Text Placeholder 2">
            <a:extLst>
              <a:ext uri="{FF2B5EF4-FFF2-40B4-BE49-F238E27FC236}">
                <a16:creationId xmlns:a16="http://schemas.microsoft.com/office/drawing/2014/main" id="{145828E7-36FE-A9B3-C76F-FBBCB8771AAE}"/>
              </a:ext>
            </a:extLst>
          </p:cNvPr>
          <p:cNvSpPr>
            <a:spLocks noGrp="1"/>
          </p:cNvSpPr>
          <p:nvPr>
            <p:ph type="body" idx="1"/>
          </p:nvPr>
        </p:nvSpPr>
        <p:spPr>
          <a:xfrm>
            <a:off x="0" y="681036"/>
            <a:ext cx="12192000" cy="6347121"/>
          </a:xfrm>
        </p:spPr>
        <p:txBody>
          <a:bodyPr/>
          <a:lstStyle/>
          <a:p>
            <a:endParaRPr lang="en-US"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pPr marL="114300" indent="0">
              <a:buNone/>
            </a:pPr>
            <a:r>
              <a:rPr lang="en-IN" sz="1800" b="1" dirty="0">
                <a:latin typeface="+mn-lt"/>
              </a:rPr>
              <a:t>Employees Table</a:t>
            </a:r>
          </a:p>
          <a:p>
            <a:pPr marL="114300" indent="0">
              <a:buNone/>
            </a:pPr>
            <a:endParaRPr lang="en-IN" dirty="0"/>
          </a:p>
        </p:txBody>
      </p:sp>
      <p:pic>
        <p:nvPicPr>
          <p:cNvPr id="7" name="Picture 6">
            <a:extLst>
              <a:ext uri="{FF2B5EF4-FFF2-40B4-BE49-F238E27FC236}">
                <a16:creationId xmlns:a16="http://schemas.microsoft.com/office/drawing/2014/main" id="{BE39AB5A-01EE-485A-4CED-CA63356B5B4E}"/>
              </a:ext>
            </a:extLst>
          </p:cNvPr>
          <p:cNvPicPr>
            <a:picLocks noChangeAspect="1"/>
          </p:cNvPicPr>
          <p:nvPr/>
        </p:nvPicPr>
        <p:blipFill>
          <a:blip r:embed="rId2"/>
          <a:stretch>
            <a:fillRect/>
          </a:stretch>
        </p:blipFill>
        <p:spPr>
          <a:xfrm>
            <a:off x="682566" y="5844381"/>
            <a:ext cx="8316486" cy="628738"/>
          </a:xfrm>
          <a:prstGeom prst="rect">
            <a:avLst/>
          </a:prstGeom>
        </p:spPr>
      </p:pic>
      <p:pic>
        <p:nvPicPr>
          <p:cNvPr id="8" name="Picture 7">
            <a:extLst>
              <a:ext uri="{FF2B5EF4-FFF2-40B4-BE49-F238E27FC236}">
                <a16:creationId xmlns:a16="http://schemas.microsoft.com/office/drawing/2014/main" id="{9D04A3A3-1926-4F71-74F3-F85C984A8F71}"/>
              </a:ext>
            </a:extLst>
          </p:cNvPr>
          <p:cNvPicPr>
            <a:picLocks noChangeAspect="1"/>
          </p:cNvPicPr>
          <p:nvPr/>
        </p:nvPicPr>
        <p:blipFill>
          <a:blip r:embed="rId3"/>
          <a:stretch>
            <a:fillRect/>
          </a:stretch>
        </p:blipFill>
        <p:spPr>
          <a:xfrm>
            <a:off x="0" y="681036"/>
            <a:ext cx="12085320" cy="4500564"/>
          </a:xfrm>
          <a:prstGeom prst="rect">
            <a:avLst/>
          </a:prstGeom>
        </p:spPr>
      </p:pic>
    </p:spTree>
    <p:extLst>
      <p:ext uri="{BB962C8B-B14F-4D97-AF65-F5344CB8AC3E}">
        <p14:creationId xmlns:p14="http://schemas.microsoft.com/office/powerpoint/2010/main" val="30749828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27430C9-762E-8CA7-B5DD-2A3F8AC18320}"/>
              </a:ext>
            </a:extLst>
          </p:cNvPr>
          <p:cNvSpPr>
            <a:spLocks noGrp="1"/>
          </p:cNvSpPr>
          <p:nvPr>
            <p:ph type="body" idx="4294967295"/>
          </p:nvPr>
        </p:nvSpPr>
        <p:spPr>
          <a:xfrm>
            <a:off x="0" y="0"/>
            <a:ext cx="12192000" cy="6858000"/>
          </a:xfrm>
        </p:spPr>
        <p:txBody>
          <a:bodyPr/>
          <a:lstStyle/>
          <a:p>
            <a:pPr marL="114300" indent="0">
              <a:lnSpc>
                <a:spcPct val="100000"/>
              </a:lnSpc>
              <a:buNone/>
            </a:pPr>
            <a:r>
              <a:rPr lang="en-IN" sz="1450" b="1" dirty="0">
                <a:latin typeface="Arial" panose="020B0604020202020204" pitchFamily="34" charset="0"/>
                <a:cs typeface="Arial" panose="020B0604020202020204" pitchFamily="34" charset="0"/>
              </a:rPr>
              <a:t>Job Department Table</a:t>
            </a:r>
            <a:endParaRPr lang="en-IN" sz="1450" dirty="0">
              <a:latin typeface="Arial" panose="020B0604020202020204" pitchFamily="34" charset="0"/>
              <a:cs typeface="Arial" panose="020B0604020202020204" pitchFamily="34" charset="0"/>
            </a:endParaRPr>
          </a:p>
          <a:p>
            <a:pPr marL="114300" indent="0">
              <a:lnSpc>
                <a:spcPct val="100000"/>
              </a:lnSpc>
              <a:buNone/>
            </a:pPr>
            <a:endParaRPr lang="en-US" sz="1450" dirty="0">
              <a:latin typeface="Arial" panose="020B0604020202020204" pitchFamily="34" charset="0"/>
              <a:cs typeface="Arial" panose="020B0604020202020204" pitchFamily="34" charset="0"/>
            </a:endParaRPr>
          </a:p>
          <a:p>
            <a:pPr marL="114300" indent="0">
              <a:lnSpc>
                <a:spcPct val="100000"/>
              </a:lnSpc>
              <a:buNone/>
            </a:pPr>
            <a:endParaRPr lang="en-US" sz="1450" dirty="0">
              <a:latin typeface="Arial" panose="020B0604020202020204" pitchFamily="34" charset="0"/>
              <a:cs typeface="Arial" panose="020B0604020202020204" pitchFamily="34" charset="0"/>
            </a:endParaRPr>
          </a:p>
          <a:p>
            <a:pPr marL="114300" indent="0">
              <a:lnSpc>
                <a:spcPct val="100000"/>
              </a:lnSpc>
              <a:buNone/>
            </a:pPr>
            <a:endParaRPr lang="en-IN" sz="1450" b="1" dirty="0">
              <a:latin typeface="Arial" panose="020B0604020202020204" pitchFamily="34" charset="0"/>
              <a:cs typeface="Arial" panose="020B0604020202020204" pitchFamily="34" charset="0"/>
            </a:endParaRPr>
          </a:p>
          <a:p>
            <a:pPr marL="114300" indent="0">
              <a:lnSpc>
                <a:spcPct val="100000"/>
              </a:lnSpc>
              <a:buNone/>
            </a:pPr>
            <a:r>
              <a:rPr lang="en-IN" sz="1450" b="1" dirty="0">
                <a:latin typeface="Arial" panose="020B0604020202020204" pitchFamily="34" charset="0"/>
                <a:cs typeface="Arial" panose="020B0604020202020204" pitchFamily="34" charset="0"/>
              </a:rPr>
              <a:t>Leaves Table</a:t>
            </a:r>
            <a:endParaRPr lang="en-IN" sz="1450" dirty="0">
              <a:latin typeface="Arial" panose="020B0604020202020204" pitchFamily="34" charset="0"/>
              <a:cs typeface="Arial" panose="020B0604020202020204" pitchFamily="34" charset="0"/>
            </a:endParaRPr>
          </a:p>
          <a:p>
            <a:pPr marL="114300" indent="0">
              <a:lnSpc>
                <a:spcPct val="100000"/>
              </a:lnSpc>
              <a:buNone/>
            </a:pPr>
            <a:endParaRPr lang="en-US" sz="1450" dirty="0">
              <a:latin typeface="Arial" panose="020B0604020202020204" pitchFamily="34" charset="0"/>
              <a:cs typeface="Arial" panose="020B0604020202020204" pitchFamily="34" charset="0"/>
            </a:endParaRPr>
          </a:p>
          <a:p>
            <a:pPr marL="114300" indent="0">
              <a:lnSpc>
                <a:spcPct val="100000"/>
              </a:lnSpc>
              <a:buNone/>
            </a:pPr>
            <a:endParaRPr lang="en-US" sz="1450" dirty="0">
              <a:latin typeface="Arial" panose="020B0604020202020204" pitchFamily="34" charset="0"/>
              <a:cs typeface="Arial" panose="020B0604020202020204" pitchFamily="34" charset="0"/>
            </a:endParaRPr>
          </a:p>
          <a:p>
            <a:pPr marL="114300" indent="0">
              <a:lnSpc>
                <a:spcPct val="100000"/>
              </a:lnSpc>
              <a:buNone/>
            </a:pPr>
            <a:endParaRPr lang="en-IN" sz="1450" b="1" dirty="0">
              <a:latin typeface="Arial" panose="020B0604020202020204" pitchFamily="34" charset="0"/>
              <a:cs typeface="Arial" panose="020B0604020202020204" pitchFamily="34" charset="0"/>
            </a:endParaRPr>
          </a:p>
          <a:p>
            <a:pPr marL="114300" indent="0">
              <a:lnSpc>
                <a:spcPct val="100000"/>
              </a:lnSpc>
              <a:buNone/>
            </a:pPr>
            <a:r>
              <a:rPr lang="en-IN" sz="1450" b="1" dirty="0">
                <a:latin typeface="Arial" panose="020B0604020202020204" pitchFamily="34" charset="0"/>
                <a:cs typeface="Arial" panose="020B0604020202020204" pitchFamily="34" charset="0"/>
              </a:rPr>
              <a:t>Qualifications Table</a:t>
            </a:r>
          </a:p>
          <a:p>
            <a:pPr marL="114300" indent="0">
              <a:lnSpc>
                <a:spcPct val="100000"/>
              </a:lnSpc>
              <a:buNone/>
            </a:pPr>
            <a:endParaRPr lang="en-IN" sz="1450" dirty="0">
              <a:latin typeface="Arial" panose="020B0604020202020204" pitchFamily="34" charset="0"/>
              <a:cs typeface="Arial" panose="020B0604020202020204" pitchFamily="34" charset="0"/>
            </a:endParaRPr>
          </a:p>
          <a:p>
            <a:pPr marL="114300" indent="0">
              <a:lnSpc>
                <a:spcPct val="100000"/>
              </a:lnSpc>
              <a:buNone/>
            </a:pPr>
            <a:endParaRPr lang="en-US" sz="1450" dirty="0">
              <a:latin typeface="Arial" panose="020B0604020202020204" pitchFamily="34" charset="0"/>
              <a:cs typeface="Arial" panose="020B0604020202020204" pitchFamily="34" charset="0"/>
            </a:endParaRPr>
          </a:p>
          <a:p>
            <a:pPr marL="114300" indent="0">
              <a:lnSpc>
                <a:spcPct val="100000"/>
              </a:lnSpc>
              <a:buNone/>
            </a:pPr>
            <a:endParaRPr lang="en-IN" sz="1450" b="1" dirty="0">
              <a:latin typeface="Arial" panose="020B0604020202020204" pitchFamily="34" charset="0"/>
              <a:cs typeface="Arial" panose="020B0604020202020204" pitchFamily="34" charset="0"/>
            </a:endParaRPr>
          </a:p>
          <a:p>
            <a:pPr marL="114300" indent="0">
              <a:lnSpc>
                <a:spcPct val="100000"/>
              </a:lnSpc>
              <a:buNone/>
            </a:pPr>
            <a:r>
              <a:rPr lang="en-IN" sz="1450" b="1" dirty="0">
                <a:latin typeface="Arial" panose="020B0604020202020204" pitchFamily="34" charset="0"/>
                <a:cs typeface="Arial" panose="020B0604020202020204" pitchFamily="34" charset="0"/>
              </a:rPr>
              <a:t>Payroll Table</a:t>
            </a:r>
          </a:p>
          <a:p>
            <a:pPr marL="114300" indent="0">
              <a:lnSpc>
                <a:spcPct val="100000"/>
              </a:lnSpc>
              <a:buNone/>
            </a:pPr>
            <a:endParaRPr lang="en-IN" b="1" dirty="0"/>
          </a:p>
          <a:p>
            <a:pPr marL="114300" indent="0">
              <a:lnSpc>
                <a:spcPct val="100000"/>
              </a:lnSpc>
              <a:buNone/>
            </a:pPr>
            <a:endParaRPr lang="en-IN" sz="1450" b="1" dirty="0">
              <a:latin typeface="Arial" panose="020B0604020202020204" pitchFamily="34" charset="0"/>
              <a:cs typeface="Arial" panose="020B0604020202020204" pitchFamily="34" charset="0"/>
            </a:endParaRPr>
          </a:p>
          <a:p>
            <a:pPr marL="114300" indent="0">
              <a:lnSpc>
                <a:spcPct val="100000"/>
              </a:lnSpc>
              <a:buNone/>
            </a:pPr>
            <a:r>
              <a:rPr lang="en-IN" sz="1450" b="1" dirty="0">
                <a:latin typeface="Arial" panose="020B0604020202020204" pitchFamily="34" charset="0"/>
                <a:cs typeface="Arial" panose="020B0604020202020204" pitchFamily="34" charset="0"/>
              </a:rPr>
              <a:t>Salary Bonus Table</a:t>
            </a:r>
          </a:p>
          <a:p>
            <a:pPr marL="114300" indent="0">
              <a:lnSpc>
                <a:spcPct val="100000"/>
              </a:lnSpc>
              <a:buNone/>
            </a:pPr>
            <a:endParaRPr lang="en-IN" sz="1450" b="1" dirty="0">
              <a:latin typeface="Arial" panose="020B0604020202020204" pitchFamily="34" charset="0"/>
              <a:cs typeface="Arial" panose="020B0604020202020204" pitchFamily="34" charset="0"/>
            </a:endParaRPr>
          </a:p>
          <a:p>
            <a:pPr marL="114300" indent="0">
              <a:lnSpc>
                <a:spcPct val="100000"/>
              </a:lnSpc>
              <a:buNone/>
            </a:pPr>
            <a:endParaRPr lang="en-IN" sz="1450" b="1" dirty="0">
              <a:latin typeface="Arial" panose="020B0604020202020204" pitchFamily="34" charset="0"/>
              <a:cs typeface="Arial" panose="020B0604020202020204" pitchFamily="34" charset="0"/>
            </a:endParaRPr>
          </a:p>
          <a:p>
            <a:pPr marL="114300" indent="0">
              <a:lnSpc>
                <a:spcPct val="100000"/>
              </a:lnSpc>
              <a:buNone/>
            </a:pPr>
            <a:endParaRPr lang="en-IN" sz="1450" dirty="0">
              <a:latin typeface="Arial" panose="020B0604020202020204" pitchFamily="34" charset="0"/>
              <a:cs typeface="Arial" panose="020B0604020202020204" pitchFamily="34" charset="0"/>
            </a:endParaRPr>
          </a:p>
          <a:p>
            <a:pPr marL="114300" indent="0">
              <a:buNone/>
            </a:pPr>
            <a:endParaRPr lang="en-IN" dirty="0"/>
          </a:p>
          <a:p>
            <a:pPr marL="114300" indent="0">
              <a:buNone/>
            </a:pPr>
            <a:endParaRPr lang="en-US" dirty="0"/>
          </a:p>
          <a:p>
            <a:pPr marL="114300" indent="0">
              <a:buNone/>
            </a:pPr>
            <a:endParaRPr lang="en-IN" dirty="0"/>
          </a:p>
        </p:txBody>
      </p:sp>
      <p:pic>
        <p:nvPicPr>
          <p:cNvPr id="5" name="Picture 4">
            <a:extLst>
              <a:ext uri="{FF2B5EF4-FFF2-40B4-BE49-F238E27FC236}">
                <a16:creationId xmlns:a16="http://schemas.microsoft.com/office/drawing/2014/main" id="{97AC3C6D-3389-8701-06C0-28B225B50434}"/>
              </a:ext>
            </a:extLst>
          </p:cNvPr>
          <p:cNvPicPr>
            <a:picLocks noChangeAspect="1"/>
          </p:cNvPicPr>
          <p:nvPr/>
        </p:nvPicPr>
        <p:blipFill>
          <a:blip r:embed="rId2"/>
          <a:stretch>
            <a:fillRect/>
          </a:stretch>
        </p:blipFill>
        <p:spPr>
          <a:xfrm>
            <a:off x="126990" y="621589"/>
            <a:ext cx="7125694" cy="657317"/>
          </a:xfrm>
          <a:prstGeom prst="rect">
            <a:avLst/>
          </a:prstGeom>
        </p:spPr>
      </p:pic>
      <p:pic>
        <p:nvPicPr>
          <p:cNvPr id="7" name="Picture 6">
            <a:extLst>
              <a:ext uri="{FF2B5EF4-FFF2-40B4-BE49-F238E27FC236}">
                <a16:creationId xmlns:a16="http://schemas.microsoft.com/office/drawing/2014/main" id="{17D3D7A7-5565-38D3-BA64-BF9E9F3A048A}"/>
              </a:ext>
            </a:extLst>
          </p:cNvPr>
          <p:cNvPicPr>
            <a:picLocks noChangeAspect="1"/>
          </p:cNvPicPr>
          <p:nvPr/>
        </p:nvPicPr>
        <p:blipFill>
          <a:blip r:embed="rId3"/>
          <a:stretch>
            <a:fillRect/>
          </a:stretch>
        </p:blipFill>
        <p:spPr>
          <a:xfrm>
            <a:off x="46512" y="2051223"/>
            <a:ext cx="3486637" cy="666843"/>
          </a:xfrm>
          <a:prstGeom prst="rect">
            <a:avLst/>
          </a:prstGeom>
        </p:spPr>
      </p:pic>
      <p:pic>
        <p:nvPicPr>
          <p:cNvPr id="9" name="Picture 8">
            <a:extLst>
              <a:ext uri="{FF2B5EF4-FFF2-40B4-BE49-F238E27FC236}">
                <a16:creationId xmlns:a16="http://schemas.microsoft.com/office/drawing/2014/main" id="{495BC6CF-FCD5-6AE1-FA33-AE2AE226878C}"/>
              </a:ext>
            </a:extLst>
          </p:cNvPr>
          <p:cNvPicPr>
            <a:picLocks noChangeAspect="1"/>
          </p:cNvPicPr>
          <p:nvPr/>
        </p:nvPicPr>
        <p:blipFill>
          <a:blip r:embed="rId4"/>
          <a:stretch>
            <a:fillRect/>
          </a:stretch>
        </p:blipFill>
        <p:spPr>
          <a:xfrm>
            <a:off x="0" y="3328257"/>
            <a:ext cx="5382376" cy="685896"/>
          </a:xfrm>
          <a:prstGeom prst="rect">
            <a:avLst/>
          </a:prstGeom>
        </p:spPr>
      </p:pic>
      <p:pic>
        <p:nvPicPr>
          <p:cNvPr id="11" name="Picture 10">
            <a:extLst>
              <a:ext uri="{FF2B5EF4-FFF2-40B4-BE49-F238E27FC236}">
                <a16:creationId xmlns:a16="http://schemas.microsoft.com/office/drawing/2014/main" id="{E1D3953C-88FF-C78F-B67C-F414EC86ECA8}"/>
              </a:ext>
            </a:extLst>
          </p:cNvPr>
          <p:cNvPicPr>
            <a:picLocks noChangeAspect="1"/>
          </p:cNvPicPr>
          <p:nvPr/>
        </p:nvPicPr>
        <p:blipFill>
          <a:blip r:embed="rId5"/>
          <a:stretch>
            <a:fillRect/>
          </a:stretch>
        </p:blipFill>
        <p:spPr>
          <a:xfrm>
            <a:off x="-1614" y="4819030"/>
            <a:ext cx="6239746" cy="666843"/>
          </a:xfrm>
          <a:prstGeom prst="rect">
            <a:avLst/>
          </a:prstGeom>
        </p:spPr>
      </p:pic>
      <p:pic>
        <p:nvPicPr>
          <p:cNvPr id="4" name="Picture 3">
            <a:extLst>
              <a:ext uri="{FF2B5EF4-FFF2-40B4-BE49-F238E27FC236}">
                <a16:creationId xmlns:a16="http://schemas.microsoft.com/office/drawing/2014/main" id="{D80B9587-AB7D-8EE6-6695-300A90C5562D}"/>
              </a:ext>
            </a:extLst>
          </p:cNvPr>
          <p:cNvPicPr>
            <a:picLocks noChangeAspect="1"/>
          </p:cNvPicPr>
          <p:nvPr/>
        </p:nvPicPr>
        <p:blipFill>
          <a:blip r:embed="rId6"/>
          <a:stretch>
            <a:fillRect/>
          </a:stretch>
        </p:blipFill>
        <p:spPr>
          <a:xfrm>
            <a:off x="46512" y="6046323"/>
            <a:ext cx="3667637" cy="676369"/>
          </a:xfrm>
          <a:prstGeom prst="rect">
            <a:avLst/>
          </a:prstGeom>
        </p:spPr>
      </p:pic>
    </p:spTree>
    <p:extLst>
      <p:ext uri="{BB962C8B-B14F-4D97-AF65-F5344CB8AC3E}">
        <p14:creationId xmlns:p14="http://schemas.microsoft.com/office/powerpoint/2010/main" val="3044699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B263325-4747-BF09-39B1-61614F0C6928}"/>
              </a:ext>
            </a:extLst>
          </p:cNvPr>
          <p:cNvSpPr txBox="1"/>
          <p:nvPr/>
        </p:nvSpPr>
        <p:spPr>
          <a:xfrm>
            <a:off x="0" y="2275840"/>
            <a:ext cx="12192000" cy="4106509"/>
          </a:xfrm>
          <a:prstGeom prst="rect">
            <a:avLst/>
          </a:prstGeom>
          <a:noFill/>
        </p:spPr>
        <p:txBody>
          <a:bodyPr wrap="square">
            <a:spAutoFit/>
          </a:bodyPr>
          <a:lstStyle/>
          <a:p>
            <a:pPr>
              <a:lnSpc>
                <a:spcPct val="150000"/>
              </a:lnSpc>
              <a:buNone/>
            </a:pPr>
            <a:r>
              <a:rPr lang="en-US" sz="2200" dirty="0">
                <a:latin typeface="Sitka Display" pitchFamily="2" charset="0"/>
              </a:rPr>
              <a:t>Managing employee information manually is slow, confusing, and often leads to mistakes. It becomes difficult to keep records updated, calculate salaries correctly, and track leaves or qualifications across departments. Without a centralized system, data can get duplicated or lost, causing delays, errors, and inefficiency in HR operations. This also makes it hard for management to get accurate insights for decision-making. A digital Employee Management System helps overcome these challenges by organizing all employee data in one place, improving accuracy, saving time, and making overall HR management more efficient. </a:t>
            </a:r>
            <a:r>
              <a:rPr lang="en-US" sz="2200" b="1" dirty="0">
                <a:latin typeface="Sitka Display" pitchFamily="2" charset="0"/>
              </a:rPr>
              <a:t>It also enhances data security and ensures smooth communication between employees and the HR department.</a:t>
            </a:r>
            <a:endParaRPr lang="en-US" sz="2200" dirty="0">
              <a:latin typeface="Sitka Display" pitchFamily="2" charset="0"/>
            </a:endParaRPr>
          </a:p>
        </p:txBody>
      </p:sp>
      <p:sp>
        <p:nvSpPr>
          <p:cNvPr id="10" name="Title 9">
            <a:extLst>
              <a:ext uri="{FF2B5EF4-FFF2-40B4-BE49-F238E27FC236}">
                <a16:creationId xmlns:a16="http://schemas.microsoft.com/office/drawing/2014/main" id="{6C2896C1-BE7F-68C5-83A4-1208B4989EE6}"/>
              </a:ext>
            </a:extLst>
          </p:cNvPr>
          <p:cNvSpPr txBox="1">
            <a:spLocks noGrp="1"/>
          </p:cNvSpPr>
          <p:nvPr>
            <p:ph type="title"/>
          </p:nvPr>
        </p:nvSpPr>
        <p:spPr>
          <a:xfrm>
            <a:off x="838200" y="704761"/>
            <a:ext cx="10515600" cy="646290"/>
          </a:xfrm>
          <a:prstGeom prst="rect">
            <a:avLst/>
          </a:prstGeom>
          <a:noFill/>
        </p:spPr>
        <p:txBody>
          <a:bodyPr wrap="square">
            <a:spAutoFit/>
          </a:bodyPr>
          <a:lstStyle/>
          <a:p>
            <a:pPr algn="ctr"/>
            <a:r>
              <a:rPr lang="en-IN" sz="4000" b="1" dirty="0">
                <a:solidFill>
                  <a:schemeClr val="tx1"/>
                </a:solidFill>
              </a:rPr>
              <a:t>PROBLEM STATEMENT</a:t>
            </a:r>
          </a:p>
        </p:txBody>
      </p:sp>
    </p:spTree>
    <p:extLst>
      <p:ext uri="{BB962C8B-B14F-4D97-AF65-F5344CB8AC3E}">
        <p14:creationId xmlns:p14="http://schemas.microsoft.com/office/powerpoint/2010/main" val="30701147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B6B3532-5002-7C6A-470E-6BA7A3A6B952}"/>
              </a:ext>
            </a:extLst>
          </p:cNvPr>
          <p:cNvPicPr>
            <a:picLocks noChangeAspect="1"/>
          </p:cNvPicPr>
          <p:nvPr/>
        </p:nvPicPr>
        <p:blipFill>
          <a:blip r:embed="rId2"/>
          <a:stretch>
            <a:fillRect/>
          </a:stretch>
        </p:blipFill>
        <p:spPr>
          <a:xfrm>
            <a:off x="216471" y="2651760"/>
            <a:ext cx="3839111" cy="1554480"/>
          </a:xfrm>
          <a:prstGeom prst="rect">
            <a:avLst/>
          </a:prstGeom>
        </p:spPr>
      </p:pic>
      <p:pic>
        <p:nvPicPr>
          <p:cNvPr id="12" name="Picture 11">
            <a:extLst>
              <a:ext uri="{FF2B5EF4-FFF2-40B4-BE49-F238E27FC236}">
                <a16:creationId xmlns:a16="http://schemas.microsoft.com/office/drawing/2014/main" id="{FAA58D91-BB07-4A6B-1F83-8DDD0045D80D}"/>
              </a:ext>
            </a:extLst>
          </p:cNvPr>
          <p:cNvPicPr>
            <a:picLocks noChangeAspect="1"/>
          </p:cNvPicPr>
          <p:nvPr/>
        </p:nvPicPr>
        <p:blipFill>
          <a:blip r:embed="rId3"/>
          <a:stretch>
            <a:fillRect/>
          </a:stretch>
        </p:blipFill>
        <p:spPr>
          <a:xfrm>
            <a:off x="6096000" y="2979154"/>
            <a:ext cx="1968074" cy="1033606"/>
          </a:xfrm>
          <a:prstGeom prst="rect">
            <a:avLst/>
          </a:prstGeom>
        </p:spPr>
      </p:pic>
      <p:pic>
        <p:nvPicPr>
          <p:cNvPr id="13" name="Picture 12">
            <a:extLst>
              <a:ext uri="{FF2B5EF4-FFF2-40B4-BE49-F238E27FC236}">
                <a16:creationId xmlns:a16="http://schemas.microsoft.com/office/drawing/2014/main" id="{6D604CCF-A372-07F9-3227-D70B17BB3AB4}"/>
              </a:ext>
            </a:extLst>
          </p:cNvPr>
          <p:cNvPicPr>
            <a:picLocks noChangeAspect="1"/>
          </p:cNvPicPr>
          <p:nvPr/>
        </p:nvPicPr>
        <p:blipFill>
          <a:blip r:embed="rId4"/>
          <a:stretch>
            <a:fillRect/>
          </a:stretch>
        </p:blipFill>
        <p:spPr>
          <a:xfrm>
            <a:off x="8305799" y="1741109"/>
            <a:ext cx="3602767" cy="2537050"/>
          </a:xfrm>
          <a:prstGeom prst="rect">
            <a:avLst/>
          </a:prstGeom>
        </p:spPr>
      </p:pic>
      <p:sp>
        <p:nvSpPr>
          <p:cNvPr id="17" name="TextBox 16">
            <a:extLst>
              <a:ext uri="{FF2B5EF4-FFF2-40B4-BE49-F238E27FC236}">
                <a16:creationId xmlns:a16="http://schemas.microsoft.com/office/drawing/2014/main" id="{B6998C3E-BA35-9C72-1712-4D6EF56EF8D4}"/>
              </a:ext>
            </a:extLst>
          </p:cNvPr>
          <p:cNvSpPr txBox="1"/>
          <p:nvPr/>
        </p:nvSpPr>
        <p:spPr>
          <a:xfrm>
            <a:off x="0" y="288072"/>
            <a:ext cx="11765280" cy="5170646"/>
          </a:xfrm>
          <a:prstGeom prst="rect">
            <a:avLst/>
          </a:prstGeom>
          <a:noFill/>
        </p:spPr>
        <p:txBody>
          <a:bodyPr wrap="square">
            <a:spAutoFit/>
          </a:bodyPr>
          <a:lstStyle/>
          <a:p>
            <a:pPr marL="114300" indent="0">
              <a:lnSpc>
                <a:spcPct val="100000"/>
              </a:lnSpc>
              <a:buNone/>
            </a:pPr>
            <a:r>
              <a:rPr lang="en-IN" sz="3000" b="1" dirty="0">
                <a:latin typeface="Times New Roman" panose="02020603050405020304" pitchFamily="18" charset="0"/>
                <a:cs typeface="Times New Roman" panose="02020603050405020304" pitchFamily="18" charset="0"/>
              </a:rPr>
              <a:t>How many unique employees are currently in the system?</a:t>
            </a:r>
          </a:p>
          <a:p>
            <a:pPr marL="114300" indent="0">
              <a:lnSpc>
                <a:spcPct val="100000"/>
              </a:lnSpc>
              <a:buNone/>
            </a:pPr>
            <a:endParaRPr lang="en-IN" sz="3000" b="1" dirty="0"/>
          </a:p>
          <a:p>
            <a:pPr marL="114300" indent="0">
              <a:lnSpc>
                <a:spcPct val="100000"/>
              </a:lnSpc>
              <a:buNone/>
            </a:pPr>
            <a:r>
              <a:rPr lang="en-IN" sz="2800" b="1" dirty="0">
                <a:latin typeface="Calibri" panose="020F0502020204030204" pitchFamily="34" charset="0"/>
                <a:ea typeface="Calibri" panose="020F0502020204030204" pitchFamily="34" charset="0"/>
                <a:cs typeface="Calibri" panose="020F0502020204030204" pitchFamily="34" charset="0"/>
              </a:rPr>
              <a:t>Query</a:t>
            </a:r>
            <a:r>
              <a:rPr lang="en-IN" sz="2800" b="1" dirty="0"/>
              <a:t> </a:t>
            </a:r>
            <a:r>
              <a:rPr lang="en-IN" sz="3000" b="1" dirty="0"/>
              <a:t>                                               </a:t>
            </a:r>
            <a:r>
              <a:rPr lang="en-IN" sz="2800" b="1" dirty="0">
                <a:latin typeface="Calibri" panose="020F0502020204030204" pitchFamily="34" charset="0"/>
                <a:ea typeface="Calibri" panose="020F0502020204030204" pitchFamily="34" charset="0"/>
                <a:cs typeface="Calibri" panose="020F0502020204030204" pitchFamily="34" charset="0"/>
              </a:rPr>
              <a:t>Output</a:t>
            </a:r>
          </a:p>
          <a:p>
            <a:pPr marL="114300" indent="0">
              <a:lnSpc>
                <a:spcPct val="100000"/>
              </a:lnSpc>
              <a:buNone/>
            </a:pPr>
            <a:endParaRPr lang="en-IN" sz="3000" b="1" dirty="0"/>
          </a:p>
          <a:p>
            <a:pPr marL="114300" indent="0">
              <a:lnSpc>
                <a:spcPct val="100000"/>
              </a:lnSpc>
              <a:buNone/>
            </a:pPr>
            <a:endParaRPr lang="en-IN" sz="3000" b="1" dirty="0"/>
          </a:p>
          <a:p>
            <a:pPr marL="114300" indent="0">
              <a:lnSpc>
                <a:spcPct val="100000"/>
              </a:lnSpc>
              <a:buNone/>
            </a:pPr>
            <a:endParaRPr lang="en-IN" sz="3000" b="1" dirty="0"/>
          </a:p>
          <a:p>
            <a:pPr marL="114300" indent="0">
              <a:lnSpc>
                <a:spcPct val="100000"/>
              </a:lnSpc>
              <a:buNone/>
            </a:pPr>
            <a:endParaRPr lang="en-IN" sz="3000" b="1" dirty="0"/>
          </a:p>
          <a:p>
            <a:pPr marL="114300" indent="0">
              <a:lnSpc>
                <a:spcPct val="100000"/>
              </a:lnSpc>
              <a:buNone/>
            </a:pPr>
            <a:endParaRPr lang="en-IN" sz="3000" b="1" dirty="0"/>
          </a:p>
          <a:p>
            <a:pPr marL="114300" indent="0">
              <a:lnSpc>
                <a:spcPct val="100000"/>
              </a:lnSpc>
              <a:buNone/>
            </a:pPr>
            <a:endParaRPr lang="en-IN" sz="3000" b="1" dirty="0"/>
          </a:p>
          <a:p>
            <a:pPr marL="114300" indent="0">
              <a:lnSpc>
                <a:spcPct val="100000"/>
              </a:lnSpc>
              <a:buNone/>
            </a:pPr>
            <a:endParaRPr lang="en-IN" sz="3000" b="1" dirty="0"/>
          </a:p>
          <a:p>
            <a:pPr marL="114300" indent="0">
              <a:lnSpc>
                <a:spcPct val="100000"/>
              </a:lnSpc>
              <a:buNone/>
            </a:pPr>
            <a:endParaRPr lang="en-IN" sz="3000" dirty="0"/>
          </a:p>
        </p:txBody>
      </p:sp>
    </p:spTree>
    <p:extLst>
      <p:ext uri="{BB962C8B-B14F-4D97-AF65-F5344CB8AC3E}">
        <p14:creationId xmlns:p14="http://schemas.microsoft.com/office/powerpoint/2010/main" val="20374679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1EC648E-66EE-0768-BBA9-892390C39E1C}"/>
              </a:ext>
            </a:extLst>
          </p:cNvPr>
          <p:cNvPicPr>
            <a:picLocks noChangeAspect="1"/>
          </p:cNvPicPr>
          <p:nvPr/>
        </p:nvPicPr>
        <p:blipFill>
          <a:blip r:embed="rId2"/>
          <a:stretch>
            <a:fillRect/>
          </a:stretch>
        </p:blipFill>
        <p:spPr>
          <a:xfrm>
            <a:off x="5543815" y="2354451"/>
            <a:ext cx="2624291" cy="2192786"/>
          </a:xfrm>
          <a:prstGeom prst="rect">
            <a:avLst/>
          </a:prstGeom>
        </p:spPr>
      </p:pic>
      <p:pic>
        <p:nvPicPr>
          <p:cNvPr id="9" name="Picture 8">
            <a:extLst>
              <a:ext uri="{FF2B5EF4-FFF2-40B4-BE49-F238E27FC236}">
                <a16:creationId xmlns:a16="http://schemas.microsoft.com/office/drawing/2014/main" id="{6855108E-7C75-3E04-0C77-E785291EA5FF}"/>
              </a:ext>
            </a:extLst>
          </p:cNvPr>
          <p:cNvPicPr>
            <a:picLocks noChangeAspect="1"/>
          </p:cNvPicPr>
          <p:nvPr/>
        </p:nvPicPr>
        <p:blipFill>
          <a:blip r:embed="rId3"/>
          <a:stretch>
            <a:fillRect/>
          </a:stretch>
        </p:blipFill>
        <p:spPr>
          <a:xfrm>
            <a:off x="504250" y="2354451"/>
            <a:ext cx="4632960" cy="2192786"/>
          </a:xfrm>
          <a:prstGeom prst="rect">
            <a:avLst/>
          </a:prstGeom>
        </p:spPr>
      </p:pic>
      <p:pic>
        <p:nvPicPr>
          <p:cNvPr id="11" name="Picture 10">
            <a:extLst>
              <a:ext uri="{FF2B5EF4-FFF2-40B4-BE49-F238E27FC236}">
                <a16:creationId xmlns:a16="http://schemas.microsoft.com/office/drawing/2014/main" id="{0115A7C6-B976-CF6C-F58E-98E55B6A359E}"/>
              </a:ext>
            </a:extLst>
          </p:cNvPr>
          <p:cNvPicPr>
            <a:picLocks noChangeAspect="1"/>
          </p:cNvPicPr>
          <p:nvPr/>
        </p:nvPicPr>
        <p:blipFill>
          <a:blip r:embed="rId4"/>
          <a:stretch>
            <a:fillRect/>
          </a:stretch>
        </p:blipFill>
        <p:spPr>
          <a:xfrm>
            <a:off x="8506725" y="1238970"/>
            <a:ext cx="3388341" cy="3584613"/>
          </a:xfrm>
          <a:prstGeom prst="rect">
            <a:avLst/>
          </a:prstGeom>
        </p:spPr>
      </p:pic>
      <p:sp>
        <p:nvSpPr>
          <p:cNvPr id="13" name="TextBox 12">
            <a:extLst>
              <a:ext uri="{FF2B5EF4-FFF2-40B4-BE49-F238E27FC236}">
                <a16:creationId xmlns:a16="http://schemas.microsoft.com/office/drawing/2014/main" id="{AEACB1A5-C487-E2E9-ABB2-14BC1FA566AA}"/>
              </a:ext>
            </a:extLst>
          </p:cNvPr>
          <p:cNvSpPr txBox="1"/>
          <p:nvPr/>
        </p:nvSpPr>
        <p:spPr>
          <a:xfrm>
            <a:off x="296934" y="2965685"/>
            <a:ext cx="12131040" cy="1622624"/>
          </a:xfrm>
          <a:prstGeom prst="rect">
            <a:avLst/>
          </a:prstGeom>
          <a:noFill/>
        </p:spPr>
        <p:txBody>
          <a:bodyPr wrap="square">
            <a:spAutoFit/>
          </a:bodyPr>
          <a:lstStyle/>
          <a:p>
            <a:pPr marL="628650" indent="-6350">
              <a:lnSpc>
                <a:spcPct val="110000"/>
              </a:lnSpc>
              <a:spcAft>
                <a:spcPts val="4290"/>
              </a:spcAft>
              <a:buNone/>
            </a:pPr>
            <a:endParaRPr lang="en-IN" sz="3000" b="1" kern="100" dirty="0">
              <a:solidFill>
                <a:srgbClr val="000000"/>
              </a:solidFill>
              <a:effectLst/>
              <a:latin typeface="Times New Roman" panose="02020603050405020304" pitchFamily="18" charset="0"/>
              <a:ea typeface="Calibri" panose="020F0502020204030204" pitchFamily="34" charset="0"/>
            </a:endParaRPr>
          </a:p>
          <a:p>
            <a:pPr marL="628650" indent="-6350">
              <a:lnSpc>
                <a:spcPct val="110000"/>
              </a:lnSpc>
              <a:spcAft>
                <a:spcPts val="4290"/>
              </a:spcAft>
              <a:buNone/>
            </a:pPr>
            <a:endParaRPr lang="en-IN" sz="3000" b="1" kern="100" dirty="0">
              <a:solidFill>
                <a:srgbClr val="000000"/>
              </a:solidFill>
              <a:effectLst/>
              <a:latin typeface="Times New Roman" panose="02020603050405020304" pitchFamily="18" charset="0"/>
              <a:ea typeface="Calibri" panose="020F0502020204030204" pitchFamily="34" charset="0"/>
            </a:endParaRPr>
          </a:p>
        </p:txBody>
      </p:sp>
      <p:sp>
        <p:nvSpPr>
          <p:cNvPr id="3" name="TextBox 2">
            <a:extLst>
              <a:ext uri="{FF2B5EF4-FFF2-40B4-BE49-F238E27FC236}">
                <a16:creationId xmlns:a16="http://schemas.microsoft.com/office/drawing/2014/main" id="{F4741D6E-B7BB-E554-95A9-8E575EEC2E7E}"/>
              </a:ext>
            </a:extLst>
          </p:cNvPr>
          <p:cNvSpPr txBox="1"/>
          <p:nvPr/>
        </p:nvSpPr>
        <p:spPr>
          <a:xfrm>
            <a:off x="504250" y="341647"/>
            <a:ext cx="8268929" cy="1692771"/>
          </a:xfrm>
          <a:prstGeom prst="rect">
            <a:avLst/>
          </a:prstGeom>
          <a:noFill/>
        </p:spPr>
        <p:txBody>
          <a:bodyPr wrap="square">
            <a:spAutoFit/>
          </a:bodyPr>
          <a:lstStyle/>
          <a:p>
            <a:pPr marL="114300" indent="0">
              <a:lnSpc>
                <a:spcPct val="100000"/>
              </a:lnSpc>
              <a:buNone/>
            </a:pPr>
            <a:r>
              <a:rPr lang="en-IN" sz="3000" b="1" dirty="0">
                <a:latin typeface="Times New Roman" panose="02020603050405020304" pitchFamily="18" charset="0"/>
                <a:cs typeface="Times New Roman" panose="02020603050405020304" pitchFamily="18" charset="0"/>
              </a:rPr>
              <a:t>Which department have the highest number of employees ?</a:t>
            </a:r>
          </a:p>
          <a:p>
            <a:pPr marL="114300" indent="0">
              <a:lnSpc>
                <a:spcPct val="100000"/>
              </a:lnSpc>
              <a:buNone/>
            </a:pPr>
            <a:endParaRPr lang="en-IN" sz="1600" b="1" dirty="0">
              <a:latin typeface="Times New Roman" panose="02020603050405020304" pitchFamily="18" charset="0"/>
              <a:cs typeface="Times New Roman" panose="02020603050405020304" pitchFamily="18" charset="0"/>
            </a:endParaRPr>
          </a:p>
          <a:p>
            <a:pPr marL="114300"/>
            <a:r>
              <a:rPr lang="en-IN" sz="2800" b="1" dirty="0">
                <a:latin typeface="Times New Roman" panose="02020603050405020304" pitchFamily="18" charset="0"/>
                <a:ea typeface="Calibri" panose="020F0502020204030204" pitchFamily="34" charset="0"/>
                <a:cs typeface="Times New Roman" panose="02020603050405020304" pitchFamily="18" charset="0"/>
              </a:rPr>
              <a:t>Query</a:t>
            </a:r>
            <a:r>
              <a:rPr lang="en-IN" sz="1400" dirty="0">
                <a:latin typeface="Times New Roman" panose="02020603050405020304" pitchFamily="18" charset="0"/>
                <a:ea typeface="Calibri" panose="020F0502020204030204" pitchFamily="34" charset="0"/>
                <a:cs typeface="Times New Roman" panose="02020603050405020304" pitchFamily="18" charset="0"/>
              </a:rPr>
              <a:t>  </a:t>
            </a:r>
            <a:r>
              <a:rPr lang="en-IN" sz="1400" b="1" dirty="0">
                <a:latin typeface="Calibri" panose="020F0502020204030204" pitchFamily="34" charset="0"/>
                <a:ea typeface="Calibri" panose="020F0502020204030204" pitchFamily="34" charset="0"/>
                <a:cs typeface="Calibri" panose="020F0502020204030204" pitchFamily="34" charset="0"/>
              </a:rPr>
              <a:t>                                                                                                       </a:t>
            </a:r>
            <a:r>
              <a:rPr lang="en-IN" sz="2800" b="1" dirty="0">
                <a:latin typeface="Times New Roman" panose="02020603050405020304" pitchFamily="18" charset="0"/>
                <a:ea typeface="Calibri" panose="020F0502020204030204" pitchFamily="34" charset="0"/>
                <a:cs typeface="Times New Roman" panose="02020603050405020304" pitchFamily="18" charset="0"/>
              </a:rPr>
              <a:t>Output</a:t>
            </a:r>
          </a:p>
        </p:txBody>
      </p:sp>
    </p:spTree>
    <p:extLst>
      <p:ext uri="{BB962C8B-B14F-4D97-AF65-F5344CB8AC3E}">
        <p14:creationId xmlns:p14="http://schemas.microsoft.com/office/powerpoint/2010/main" val="5202410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8805234-A828-37EC-F06F-019C78AB38C4}"/>
              </a:ext>
            </a:extLst>
          </p:cNvPr>
          <p:cNvPicPr>
            <a:picLocks noChangeAspect="1"/>
          </p:cNvPicPr>
          <p:nvPr/>
        </p:nvPicPr>
        <p:blipFill>
          <a:blip r:embed="rId2"/>
          <a:stretch>
            <a:fillRect/>
          </a:stretch>
        </p:blipFill>
        <p:spPr>
          <a:xfrm>
            <a:off x="384978" y="1849819"/>
            <a:ext cx="4430111" cy="2610127"/>
          </a:xfrm>
          <a:prstGeom prst="rect">
            <a:avLst/>
          </a:prstGeom>
        </p:spPr>
      </p:pic>
      <p:pic>
        <p:nvPicPr>
          <p:cNvPr id="7" name="Picture 6">
            <a:extLst>
              <a:ext uri="{FF2B5EF4-FFF2-40B4-BE49-F238E27FC236}">
                <a16:creationId xmlns:a16="http://schemas.microsoft.com/office/drawing/2014/main" id="{233B7F12-09AF-803E-CD59-3E0066768214}"/>
              </a:ext>
            </a:extLst>
          </p:cNvPr>
          <p:cNvPicPr>
            <a:picLocks noChangeAspect="1"/>
          </p:cNvPicPr>
          <p:nvPr/>
        </p:nvPicPr>
        <p:blipFill>
          <a:blip r:embed="rId3"/>
          <a:stretch>
            <a:fillRect/>
          </a:stretch>
        </p:blipFill>
        <p:spPr>
          <a:xfrm>
            <a:off x="9059910" y="3429000"/>
            <a:ext cx="2937644" cy="2610128"/>
          </a:xfrm>
          <a:prstGeom prst="rect">
            <a:avLst/>
          </a:prstGeom>
        </p:spPr>
      </p:pic>
      <p:pic>
        <p:nvPicPr>
          <p:cNvPr id="9" name="Picture 8">
            <a:extLst>
              <a:ext uri="{FF2B5EF4-FFF2-40B4-BE49-F238E27FC236}">
                <a16:creationId xmlns:a16="http://schemas.microsoft.com/office/drawing/2014/main" id="{879D2085-8A55-AE48-D6D0-7B522EDBD110}"/>
              </a:ext>
            </a:extLst>
          </p:cNvPr>
          <p:cNvPicPr>
            <a:picLocks noChangeAspect="1"/>
          </p:cNvPicPr>
          <p:nvPr/>
        </p:nvPicPr>
        <p:blipFill>
          <a:blip r:embed="rId4"/>
          <a:stretch>
            <a:fillRect/>
          </a:stretch>
        </p:blipFill>
        <p:spPr>
          <a:xfrm>
            <a:off x="5371455" y="1306286"/>
            <a:ext cx="3132089" cy="3778180"/>
          </a:xfrm>
          <a:prstGeom prst="rect">
            <a:avLst/>
          </a:prstGeom>
        </p:spPr>
      </p:pic>
      <p:sp>
        <p:nvSpPr>
          <p:cNvPr id="11" name="TextBox 10">
            <a:extLst>
              <a:ext uri="{FF2B5EF4-FFF2-40B4-BE49-F238E27FC236}">
                <a16:creationId xmlns:a16="http://schemas.microsoft.com/office/drawing/2014/main" id="{7E5B59C8-6072-9FBB-BC21-B9206CFCBDAC}"/>
              </a:ext>
            </a:extLst>
          </p:cNvPr>
          <p:cNvSpPr txBox="1"/>
          <p:nvPr/>
        </p:nvSpPr>
        <p:spPr>
          <a:xfrm>
            <a:off x="256188" y="3353689"/>
            <a:ext cx="11935812" cy="1532856"/>
          </a:xfrm>
          <a:prstGeom prst="rect">
            <a:avLst/>
          </a:prstGeom>
          <a:noFill/>
        </p:spPr>
        <p:txBody>
          <a:bodyPr wrap="square">
            <a:spAutoFit/>
          </a:bodyPr>
          <a:lstStyle/>
          <a:p>
            <a:pPr marL="628650" indent="-6350">
              <a:lnSpc>
                <a:spcPct val="110000"/>
              </a:lnSpc>
              <a:spcAft>
                <a:spcPts val="3625"/>
              </a:spcAft>
              <a:buNone/>
            </a:pPr>
            <a:endParaRPr lang="en-IN" sz="3000" b="1" kern="100" dirty="0">
              <a:solidFill>
                <a:srgbClr val="000000"/>
              </a:solidFill>
              <a:effectLst/>
              <a:latin typeface="Times New Roman" panose="02020603050405020304" pitchFamily="18" charset="0"/>
              <a:ea typeface="Times New Roman" panose="02020603050405020304" pitchFamily="18" charset="0"/>
            </a:endParaRPr>
          </a:p>
          <a:p>
            <a:pPr marL="628650" indent="-6350">
              <a:lnSpc>
                <a:spcPct val="110000"/>
              </a:lnSpc>
              <a:spcAft>
                <a:spcPts val="3625"/>
              </a:spcAft>
              <a:buNone/>
            </a:pPr>
            <a:endParaRPr lang="en-IN" sz="3000" b="1" kern="100" dirty="0">
              <a:latin typeface="Times New Roman" panose="02020603050405020304" pitchFamily="18" charset="0"/>
              <a:ea typeface="Times New Roman" panose="02020603050405020304" pitchFamily="18" charset="0"/>
            </a:endParaRPr>
          </a:p>
        </p:txBody>
      </p:sp>
      <p:sp>
        <p:nvSpPr>
          <p:cNvPr id="3" name="TextBox 2">
            <a:extLst>
              <a:ext uri="{FF2B5EF4-FFF2-40B4-BE49-F238E27FC236}">
                <a16:creationId xmlns:a16="http://schemas.microsoft.com/office/drawing/2014/main" id="{2981B349-41CF-4102-B852-AA78AB5E9786}"/>
              </a:ext>
            </a:extLst>
          </p:cNvPr>
          <p:cNvSpPr txBox="1"/>
          <p:nvPr/>
        </p:nvSpPr>
        <p:spPr>
          <a:xfrm>
            <a:off x="0" y="0"/>
            <a:ext cx="8406580" cy="2616614"/>
          </a:xfrm>
          <a:prstGeom prst="rect">
            <a:avLst/>
          </a:prstGeom>
          <a:noFill/>
        </p:spPr>
        <p:txBody>
          <a:bodyPr wrap="square">
            <a:spAutoFit/>
          </a:bodyPr>
          <a:lstStyle/>
          <a:p>
            <a:pPr marL="628650" indent="-6350">
              <a:lnSpc>
                <a:spcPct val="110000"/>
              </a:lnSpc>
              <a:spcAft>
                <a:spcPts val="4290"/>
              </a:spcAft>
              <a:buNone/>
            </a:pPr>
            <a:r>
              <a:rPr lang="en-IN" sz="3000" b="1" kern="100" dirty="0">
                <a:solidFill>
                  <a:srgbClr val="000000"/>
                </a:solidFill>
                <a:effectLst/>
                <a:latin typeface="Times New Roman" panose="02020603050405020304" pitchFamily="18" charset="0"/>
                <a:ea typeface="Times New Roman" panose="02020603050405020304" pitchFamily="18" charset="0"/>
              </a:rPr>
              <a:t>What is the average salary per department?</a:t>
            </a:r>
          </a:p>
          <a:p>
            <a:pPr marL="628650" indent="-6350">
              <a:lnSpc>
                <a:spcPct val="110000"/>
              </a:lnSpc>
              <a:spcAft>
                <a:spcPts val="4290"/>
              </a:spcAft>
              <a:buNone/>
            </a:pPr>
            <a:r>
              <a:rPr lang="en-IN" sz="2800" b="1" kern="100" dirty="0">
                <a:latin typeface="Times New Roman" panose="02020603050405020304" pitchFamily="18" charset="0"/>
                <a:ea typeface="Calibri" panose="020F0502020204030204" pitchFamily="34" charset="0"/>
                <a:cs typeface="Times New Roman" panose="02020603050405020304" pitchFamily="18" charset="0"/>
              </a:rPr>
              <a:t>Query                                                    </a:t>
            </a:r>
          </a:p>
          <a:p>
            <a:pPr marL="628650" indent="-6350">
              <a:lnSpc>
                <a:spcPct val="110000"/>
              </a:lnSpc>
              <a:spcAft>
                <a:spcPts val="4290"/>
              </a:spcAft>
              <a:buNone/>
            </a:pPr>
            <a:r>
              <a:rPr lang="en-IN" sz="2800" b="1" kern="100" dirty="0">
                <a:latin typeface="Times New Roman" panose="02020603050405020304" pitchFamily="18" charset="0"/>
                <a:ea typeface="Calibri" panose="020F0502020204030204" pitchFamily="34" charset="0"/>
                <a:cs typeface="Times New Roman" panose="02020603050405020304" pitchFamily="18" charset="0"/>
              </a:rPr>
              <a:t>                                                                                                                                                                                                         </a:t>
            </a:r>
          </a:p>
        </p:txBody>
      </p:sp>
      <p:sp>
        <p:nvSpPr>
          <p:cNvPr id="6" name="TextBox 5">
            <a:extLst>
              <a:ext uri="{FF2B5EF4-FFF2-40B4-BE49-F238E27FC236}">
                <a16:creationId xmlns:a16="http://schemas.microsoft.com/office/drawing/2014/main" id="{2747BA22-1F7A-3E72-DCAA-BD2F3A8E3D99}"/>
              </a:ext>
            </a:extLst>
          </p:cNvPr>
          <p:cNvSpPr txBox="1"/>
          <p:nvPr/>
        </p:nvSpPr>
        <p:spPr>
          <a:xfrm>
            <a:off x="9635613" y="2479181"/>
            <a:ext cx="6096000" cy="523220"/>
          </a:xfrm>
          <a:prstGeom prst="rect">
            <a:avLst/>
          </a:prstGeom>
          <a:noFill/>
        </p:spPr>
        <p:txBody>
          <a:bodyPr wrap="square">
            <a:spAutoFit/>
          </a:bodyPr>
          <a:lstStyle/>
          <a:p>
            <a:r>
              <a:rPr lang="en-IN" sz="2800" b="1" kern="100" dirty="0">
                <a:latin typeface="Times New Roman" panose="02020603050405020304" pitchFamily="18" charset="0"/>
                <a:ea typeface="Calibri" panose="020F0502020204030204" pitchFamily="34" charset="0"/>
                <a:cs typeface="Times New Roman" panose="02020603050405020304" pitchFamily="18" charset="0"/>
              </a:rPr>
              <a:t>Output</a:t>
            </a:r>
            <a:endParaRPr lang="en-IN" sz="2800" dirty="0"/>
          </a:p>
        </p:txBody>
      </p:sp>
    </p:spTree>
    <p:extLst>
      <p:ext uri="{BB962C8B-B14F-4D97-AF65-F5344CB8AC3E}">
        <p14:creationId xmlns:p14="http://schemas.microsoft.com/office/powerpoint/2010/main" val="25994599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8C76B9B-EA0D-AC8F-0D66-75D1014E2C3B}"/>
              </a:ext>
            </a:extLst>
          </p:cNvPr>
          <p:cNvPicPr>
            <a:picLocks noChangeAspect="1"/>
          </p:cNvPicPr>
          <p:nvPr/>
        </p:nvPicPr>
        <p:blipFill>
          <a:blip r:embed="rId2"/>
          <a:stretch>
            <a:fillRect/>
          </a:stretch>
        </p:blipFill>
        <p:spPr>
          <a:xfrm>
            <a:off x="73172" y="2628158"/>
            <a:ext cx="5039428" cy="2388404"/>
          </a:xfrm>
          <a:prstGeom prst="rect">
            <a:avLst/>
          </a:prstGeom>
        </p:spPr>
      </p:pic>
      <p:pic>
        <p:nvPicPr>
          <p:cNvPr id="7" name="Picture 6">
            <a:extLst>
              <a:ext uri="{FF2B5EF4-FFF2-40B4-BE49-F238E27FC236}">
                <a16:creationId xmlns:a16="http://schemas.microsoft.com/office/drawing/2014/main" id="{692E2644-CDA3-9D30-78BD-93279C22C676}"/>
              </a:ext>
            </a:extLst>
          </p:cNvPr>
          <p:cNvPicPr>
            <a:picLocks noChangeAspect="1"/>
          </p:cNvPicPr>
          <p:nvPr/>
        </p:nvPicPr>
        <p:blipFill>
          <a:blip r:embed="rId3"/>
          <a:stretch>
            <a:fillRect/>
          </a:stretch>
        </p:blipFill>
        <p:spPr>
          <a:xfrm>
            <a:off x="8867674" y="3297231"/>
            <a:ext cx="3251154" cy="2550487"/>
          </a:xfrm>
          <a:prstGeom prst="rect">
            <a:avLst/>
          </a:prstGeom>
        </p:spPr>
      </p:pic>
      <p:pic>
        <p:nvPicPr>
          <p:cNvPr id="9" name="Picture 8">
            <a:extLst>
              <a:ext uri="{FF2B5EF4-FFF2-40B4-BE49-F238E27FC236}">
                <a16:creationId xmlns:a16="http://schemas.microsoft.com/office/drawing/2014/main" id="{4673E18E-FEFA-EAFB-81F5-157A3DCC9603}"/>
              </a:ext>
            </a:extLst>
          </p:cNvPr>
          <p:cNvPicPr>
            <a:picLocks noChangeAspect="1"/>
          </p:cNvPicPr>
          <p:nvPr/>
        </p:nvPicPr>
        <p:blipFill>
          <a:blip r:embed="rId4"/>
          <a:stretch>
            <a:fillRect/>
          </a:stretch>
        </p:blipFill>
        <p:spPr>
          <a:xfrm>
            <a:off x="5059541" y="1091906"/>
            <a:ext cx="3584029" cy="3823485"/>
          </a:xfrm>
          <a:prstGeom prst="rect">
            <a:avLst/>
          </a:prstGeom>
        </p:spPr>
      </p:pic>
      <p:sp>
        <p:nvSpPr>
          <p:cNvPr id="3" name="TextBox 2">
            <a:extLst>
              <a:ext uri="{FF2B5EF4-FFF2-40B4-BE49-F238E27FC236}">
                <a16:creationId xmlns:a16="http://schemas.microsoft.com/office/drawing/2014/main" id="{7443268B-FD1B-E052-1877-88BF1ECBCE0D}"/>
              </a:ext>
            </a:extLst>
          </p:cNvPr>
          <p:cNvSpPr txBox="1"/>
          <p:nvPr/>
        </p:nvSpPr>
        <p:spPr>
          <a:xfrm>
            <a:off x="193751" y="342374"/>
            <a:ext cx="8065345" cy="1499065"/>
          </a:xfrm>
          <a:prstGeom prst="rect">
            <a:avLst/>
          </a:prstGeom>
          <a:noFill/>
        </p:spPr>
        <p:txBody>
          <a:bodyPr wrap="square">
            <a:spAutoFit/>
          </a:bodyPr>
          <a:lstStyle/>
          <a:p>
            <a:pPr marL="628650" indent="-6350">
              <a:lnSpc>
                <a:spcPct val="110000"/>
              </a:lnSpc>
              <a:spcAft>
                <a:spcPts val="3625"/>
              </a:spcAft>
              <a:buNone/>
            </a:pPr>
            <a:r>
              <a:rPr lang="en-IN" sz="3000" b="1" kern="100" dirty="0">
                <a:solidFill>
                  <a:srgbClr val="000000"/>
                </a:solidFill>
                <a:effectLst/>
                <a:latin typeface="Times New Roman" panose="02020603050405020304" pitchFamily="18" charset="0"/>
                <a:ea typeface="Times New Roman" panose="02020603050405020304" pitchFamily="18" charset="0"/>
              </a:rPr>
              <a:t>Who are the top 5 highest-paid employees?</a:t>
            </a:r>
          </a:p>
          <a:p>
            <a:pPr marL="628650" indent="-6350">
              <a:lnSpc>
                <a:spcPct val="110000"/>
              </a:lnSpc>
              <a:spcAft>
                <a:spcPts val="3625"/>
              </a:spcAft>
              <a:buNone/>
            </a:pPr>
            <a:r>
              <a:rPr lang="en-IN" sz="2800" b="1" kern="100" dirty="0">
                <a:latin typeface="Arial" panose="020B0604020202020204" pitchFamily="34" charset="0"/>
                <a:ea typeface="Calibri" panose="020F0502020204030204" pitchFamily="34" charset="0"/>
                <a:cs typeface="Arial" panose="020B0604020202020204" pitchFamily="34" charset="0"/>
              </a:rPr>
              <a:t>Query</a:t>
            </a:r>
            <a:endParaRPr lang="en-IN" sz="2800" kern="100" dirty="0">
              <a:solidFill>
                <a:srgbClr val="000000"/>
              </a:solidFill>
              <a:effectLst/>
              <a:latin typeface="Arial" panose="020B0604020202020204" pitchFamily="34" charset="0"/>
              <a:ea typeface="Calibri" panose="020F0502020204030204" pitchFamily="34" charset="0"/>
              <a:cs typeface="Arial" panose="020B0604020202020204" pitchFamily="34" charset="0"/>
            </a:endParaRPr>
          </a:p>
        </p:txBody>
      </p:sp>
      <p:sp>
        <p:nvSpPr>
          <p:cNvPr id="6" name="TextBox 5">
            <a:extLst>
              <a:ext uri="{FF2B5EF4-FFF2-40B4-BE49-F238E27FC236}">
                <a16:creationId xmlns:a16="http://schemas.microsoft.com/office/drawing/2014/main" id="{B408A8BC-6011-0CEC-7412-640B77CD8CD7}"/>
              </a:ext>
            </a:extLst>
          </p:cNvPr>
          <p:cNvSpPr txBox="1"/>
          <p:nvPr/>
        </p:nvSpPr>
        <p:spPr>
          <a:xfrm>
            <a:off x="9144838" y="2282700"/>
            <a:ext cx="6094324" cy="523220"/>
          </a:xfrm>
          <a:prstGeom prst="rect">
            <a:avLst/>
          </a:prstGeom>
          <a:noFill/>
        </p:spPr>
        <p:txBody>
          <a:bodyPr wrap="square">
            <a:spAutoFit/>
          </a:bodyPr>
          <a:lstStyle/>
          <a:p>
            <a:r>
              <a:rPr lang="en-IN" sz="2800" b="1" kern="100" dirty="0">
                <a:latin typeface="Times New Roman" panose="02020603050405020304" pitchFamily="18" charset="0"/>
                <a:ea typeface="Calibri" panose="020F0502020204030204" pitchFamily="34" charset="0"/>
                <a:cs typeface="Times New Roman" panose="02020603050405020304" pitchFamily="18" charset="0"/>
              </a:rPr>
              <a:t>Output</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575312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A3E7474-93CC-C670-5590-A3BAAFC5DFC3}"/>
              </a:ext>
            </a:extLst>
          </p:cNvPr>
          <p:cNvPicPr>
            <a:picLocks noChangeAspect="1"/>
          </p:cNvPicPr>
          <p:nvPr/>
        </p:nvPicPr>
        <p:blipFill>
          <a:blip r:embed="rId2"/>
          <a:stretch>
            <a:fillRect/>
          </a:stretch>
        </p:blipFill>
        <p:spPr>
          <a:xfrm>
            <a:off x="130347" y="2298634"/>
            <a:ext cx="5372850" cy="1357207"/>
          </a:xfrm>
          <a:prstGeom prst="rect">
            <a:avLst/>
          </a:prstGeom>
        </p:spPr>
      </p:pic>
      <p:pic>
        <p:nvPicPr>
          <p:cNvPr id="9" name="Picture 8">
            <a:extLst>
              <a:ext uri="{FF2B5EF4-FFF2-40B4-BE49-F238E27FC236}">
                <a16:creationId xmlns:a16="http://schemas.microsoft.com/office/drawing/2014/main" id="{B4183783-432D-E0FF-CDA1-95A5DAC485A5}"/>
              </a:ext>
            </a:extLst>
          </p:cNvPr>
          <p:cNvPicPr>
            <a:picLocks noChangeAspect="1"/>
          </p:cNvPicPr>
          <p:nvPr/>
        </p:nvPicPr>
        <p:blipFill>
          <a:blip r:embed="rId3"/>
          <a:stretch>
            <a:fillRect/>
          </a:stretch>
        </p:blipFill>
        <p:spPr>
          <a:xfrm>
            <a:off x="9441003" y="3749862"/>
            <a:ext cx="2086266" cy="1125002"/>
          </a:xfrm>
          <a:prstGeom prst="rect">
            <a:avLst/>
          </a:prstGeom>
        </p:spPr>
      </p:pic>
      <p:pic>
        <p:nvPicPr>
          <p:cNvPr id="3" name="Picture 2">
            <a:extLst>
              <a:ext uri="{FF2B5EF4-FFF2-40B4-BE49-F238E27FC236}">
                <a16:creationId xmlns:a16="http://schemas.microsoft.com/office/drawing/2014/main" id="{D206F766-C06F-428B-3BAE-AB9C60399952}"/>
              </a:ext>
            </a:extLst>
          </p:cNvPr>
          <p:cNvPicPr>
            <a:picLocks noChangeAspect="1"/>
          </p:cNvPicPr>
          <p:nvPr/>
        </p:nvPicPr>
        <p:blipFill>
          <a:blip r:embed="rId4"/>
          <a:stretch>
            <a:fillRect/>
          </a:stretch>
        </p:blipFill>
        <p:spPr>
          <a:xfrm>
            <a:off x="4859030" y="1297859"/>
            <a:ext cx="4039164" cy="4375354"/>
          </a:xfrm>
          <a:prstGeom prst="rect">
            <a:avLst/>
          </a:prstGeom>
        </p:spPr>
      </p:pic>
      <p:sp>
        <p:nvSpPr>
          <p:cNvPr id="6" name="TextBox 5">
            <a:extLst>
              <a:ext uri="{FF2B5EF4-FFF2-40B4-BE49-F238E27FC236}">
                <a16:creationId xmlns:a16="http://schemas.microsoft.com/office/drawing/2014/main" id="{DA67CCAB-0094-6C2E-074F-C31A01897ACA}"/>
              </a:ext>
            </a:extLst>
          </p:cNvPr>
          <p:cNvSpPr txBox="1"/>
          <p:nvPr/>
        </p:nvSpPr>
        <p:spPr>
          <a:xfrm>
            <a:off x="130347" y="425725"/>
            <a:ext cx="8158247" cy="1661993"/>
          </a:xfrm>
          <a:prstGeom prst="rect">
            <a:avLst/>
          </a:prstGeom>
          <a:noFill/>
        </p:spPr>
        <p:txBody>
          <a:bodyPr wrap="square">
            <a:spAutoFit/>
          </a:bodyPr>
          <a:lstStyle/>
          <a:p>
            <a:r>
              <a:rPr lang="en-IN" sz="30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What is the total salary expenditure across the company?</a:t>
            </a:r>
          </a:p>
          <a:p>
            <a:endParaRPr lang="en-IN" sz="1400" b="1" dirty="0">
              <a:latin typeface="Times New Roman" panose="02020603050405020304" pitchFamily="18" charset="0"/>
              <a:cs typeface="Times New Roman" panose="02020603050405020304" pitchFamily="18" charset="0"/>
            </a:endParaRPr>
          </a:p>
          <a:p>
            <a:r>
              <a:rPr lang="en-IN" sz="2800" b="1" dirty="0">
                <a:latin typeface="Arial" panose="020B0604020202020204" pitchFamily="34" charset="0"/>
                <a:cs typeface="Arial" panose="020B0604020202020204" pitchFamily="34" charset="0"/>
              </a:rPr>
              <a:t>Query</a:t>
            </a:r>
            <a:endParaRPr lang="en-IN" sz="1200" dirty="0">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A4EB7829-9737-C7A8-EF0D-04293C39BB40}"/>
              </a:ext>
            </a:extLst>
          </p:cNvPr>
          <p:cNvSpPr txBox="1"/>
          <p:nvPr/>
        </p:nvSpPr>
        <p:spPr>
          <a:xfrm>
            <a:off x="9441003" y="2797103"/>
            <a:ext cx="6100916" cy="523220"/>
          </a:xfrm>
          <a:prstGeom prst="rect">
            <a:avLst/>
          </a:prstGeom>
          <a:noFill/>
        </p:spPr>
        <p:txBody>
          <a:bodyPr wrap="square">
            <a:spAutoFit/>
          </a:bodyPr>
          <a:lstStyle/>
          <a:p>
            <a:r>
              <a:rPr lang="en-IN" sz="2800" b="1" dirty="0">
                <a:latin typeface="Times New Roman" panose="02020603050405020304" pitchFamily="18" charset="0"/>
                <a:cs typeface="Times New Roman" panose="02020603050405020304" pitchFamily="18" charset="0"/>
              </a:rPr>
              <a:t>Output </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410172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26E74E7-C08D-5EA4-C529-E4B35ECC99B6}"/>
              </a:ext>
            </a:extLst>
          </p:cNvPr>
          <p:cNvPicPr>
            <a:picLocks noChangeAspect="1"/>
          </p:cNvPicPr>
          <p:nvPr/>
        </p:nvPicPr>
        <p:blipFill>
          <a:blip r:embed="rId2"/>
          <a:stretch>
            <a:fillRect/>
          </a:stretch>
        </p:blipFill>
        <p:spPr>
          <a:xfrm>
            <a:off x="186544" y="2525040"/>
            <a:ext cx="4015050" cy="1623848"/>
          </a:xfrm>
          <a:prstGeom prst="rect">
            <a:avLst/>
          </a:prstGeom>
        </p:spPr>
      </p:pic>
      <p:pic>
        <p:nvPicPr>
          <p:cNvPr id="5" name="Picture 4">
            <a:extLst>
              <a:ext uri="{FF2B5EF4-FFF2-40B4-BE49-F238E27FC236}">
                <a16:creationId xmlns:a16="http://schemas.microsoft.com/office/drawing/2014/main" id="{3359A752-841E-8140-2517-6CBD4864EDD9}"/>
              </a:ext>
            </a:extLst>
          </p:cNvPr>
          <p:cNvPicPr>
            <a:picLocks noChangeAspect="1"/>
          </p:cNvPicPr>
          <p:nvPr/>
        </p:nvPicPr>
        <p:blipFill>
          <a:blip r:embed="rId3"/>
          <a:stretch>
            <a:fillRect/>
          </a:stretch>
        </p:blipFill>
        <p:spPr>
          <a:xfrm>
            <a:off x="9068563" y="3336964"/>
            <a:ext cx="2476676" cy="2648608"/>
          </a:xfrm>
          <a:prstGeom prst="rect">
            <a:avLst/>
          </a:prstGeom>
        </p:spPr>
      </p:pic>
      <p:pic>
        <p:nvPicPr>
          <p:cNvPr id="4" name="Picture 3">
            <a:extLst>
              <a:ext uri="{FF2B5EF4-FFF2-40B4-BE49-F238E27FC236}">
                <a16:creationId xmlns:a16="http://schemas.microsoft.com/office/drawing/2014/main" id="{09A0CCCB-E6BC-A6CE-427F-22A8A25E0780}"/>
              </a:ext>
            </a:extLst>
          </p:cNvPr>
          <p:cNvPicPr>
            <a:picLocks noChangeAspect="1"/>
          </p:cNvPicPr>
          <p:nvPr/>
        </p:nvPicPr>
        <p:blipFill>
          <a:blip r:embed="rId4"/>
          <a:stretch>
            <a:fillRect/>
          </a:stretch>
        </p:blipFill>
        <p:spPr>
          <a:xfrm>
            <a:off x="4624381" y="1809135"/>
            <a:ext cx="4021395" cy="4060723"/>
          </a:xfrm>
          <a:prstGeom prst="rect">
            <a:avLst/>
          </a:prstGeom>
        </p:spPr>
      </p:pic>
      <p:sp>
        <p:nvSpPr>
          <p:cNvPr id="6" name="TextBox 5">
            <a:extLst>
              <a:ext uri="{FF2B5EF4-FFF2-40B4-BE49-F238E27FC236}">
                <a16:creationId xmlns:a16="http://schemas.microsoft.com/office/drawing/2014/main" id="{060F0BC6-A400-F67F-3581-3C9C3B5A7E9A}"/>
              </a:ext>
            </a:extLst>
          </p:cNvPr>
          <p:cNvSpPr txBox="1"/>
          <p:nvPr/>
        </p:nvSpPr>
        <p:spPr>
          <a:xfrm>
            <a:off x="108154" y="106135"/>
            <a:ext cx="8672052" cy="553998"/>
          </a:xfrm>
          <a:prstGeom prst="rect">
            <a:avLst/>
          </a:prstGeom>
          <a:noFill/>
        </p:spPr>
        <p:txBody>
          <a:bodyPr wrap="square">
            <a:spAutoFit/>
          </a:bodyPr>
          <a:lstStyle/>
          <a:p>
            <a:r>
              <a:rPr lang="en-IN" sz="3000" b="1" dirty="0">
                <a:latin typeface="+mj-lt"/>
              </a:rPr>
              <a:t>2.JOB ROLE AND DEPARTMENT ANALYSIS</a:t>
            </a:r>
          </a:p>
        </p:txBody>
      </p:sp>
      <p:sp>
        <p:nvSpPr>
          <p:cNvPr id="9" name="TextBox 8">
            <a:extLst>
              <a:ext uri="{FF2B5EF4-FFF2-40B4-BE49-F238E27FC236}">
                <a16:creationId xmlns:a16="http://schemas.microsoft.com/office/drawing/2014/main" id="{71E41557-37FE-D22D-0AAB-18C1FD45638B}"/>
              </a:ext>
            </a:extLst>
          </p:cNvPr>
          <p:cNvSpPr txBox="1"/>
          <p:nvPr/>
        </p:nvSpPr>
        <p:spPr>
          <a:xfrm>
            <a:off x="297555" y="544772"/>
            <a:ext cx="12675045" cy="1080167"/>
          </a:xfrm>
          <a:prstGeom prst="rect">
            <a:avLst/>
          </a:prstGeom>
          <a:noFill/>
        </p:spPr>
        <p:txBody>
          <a:bodyPr wrap="square">
            <a:spAutoFit/>
          </a:bodyPr>
          <a:lstStyle/>
          <a:p>
            <a:pPr marL="628650" marR="3362325" indent="-6350">
              <a:lnSpc>
                <a:spcPct val="110000"/>
              </a:lnSpc>
              <a:spcAft>
                <a:spcPts val="4635"/>
              </a:spcAft>
              <a:buNone/>
            </a:pPr>
            <a:r>
              <a:rPr lang="en-IN" sz="3000" b="1" kern="100" dirty="0">
                <a:solidFill>
                  <a:srgbClr val="000000"/>
                </a:solidFill>
                <a:effectLst/>
                <a:latin typeface="Times New Roman" panose="02020603050405020304" pitchFamily="18" charset="0"/>
                <a:ea typeface="Times New Roman" panose="02020603050405020304" pitchFamily="18" charset="0"/>
              </a:rPr>
              <a:t>How many different job roles exist in each department?</a:t>
            </a:r>
            <a:endParaRPr lang="en-IN" sz="3000" kern="100" dirty="0">
              <a:solidFill>
                <a:srgbClr val="000000"/>
              </a:solidFill>
              <a:effectLst/>
              <a:latin typeface="Calibri" panose="020F0502020204030204" pitchFamily="34" charset="0"/>
              <a:ea typeface="Calibri" panose="020F0502020204030204" pitchFamily="34" charset="0"/>
            </a:endParaRPr>
          </a:p>
        </p:txBody>
      </p:sp>
      <p:sp>
        <p:nvSpPr>
          <p:cNvPr id="11" name="TextBox 10">
            <a:extLst>
              <a:ext uri="{FF2B5EF4-FFF2-40B4-BE49-F238E27FC236}">
                <a16:creationId xmlns:a16="http://schemas.microsoft.com/office/drawing/2014/main" id="{19760B14-40F3-DD80-0C07-E840AB7FC09E}"/>
              </a:ext>
            </a:extLst>
          </p:cNvPr>
          <p:cNvSpPr txBox="1"/>
          <p:nvPr/>
        </p:nvSpPr>
        <p:spPr>
          <a:xfrm>
            <a:off x="403122" y="2017309"/>
            <a:ext cx="6115664" cy="523220"/>
          </a:xfrm>
          <a:prstGeom prst="rect">
            <a:avLst/>
          </a:prstGeom>
          <a:noFill/>
        </p:spPr>
        <p:txBody>
          <a:bodyPr wrap="square">
            <a:spAutoFit/>
          </a:bodyPr>
          <a:lstStyle/>
          <a:p>
            <a:r>
              <a:rPr lang="en-IN" sz="2800" b="1" dirty="0">
                <a:latin typeface="Times New Roman" panose="02020603050405020304" pitchFamily="18" charset="0"/>
                <a:cs typeface="Times New Roman" panose="02020603050405020304" pitchFamily="18" charset="0"/>
              </a:rPr>
              <a:t>Query</a:t>
            </a:r>
            <a:endParaRPr lang="en-IN" sz="2800"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DFA8D928-4E9B-7011-009D-50082033BCC9}"/>
              </a:ext>
            </a:extLst>
          </p:cNvPr>
          <p:cNvSpPr txBox="1"/>
          <p:nvPr/>
        </p:nvSpPr>
        <p:spPr>
          <a:xfrm>
            <a:off x="9555442" y="2540529"/>
            <a:ext cx="6115664" cy="523220"/>
          </a:xfrm>
          <a:prstGeom prst="rect">
            <a:avLst/>
          </a:prstGeom>
          <a:noFill/>
        </p:spPr>
        <p:txBody>
          <a:bodyPr wrap="square">
            <a:spAutoFit/>
          </a:bodyPr>
          <a:lstStyle/>
          <a:p>
            <a:r>
              <a:rPr lang="en-IN" sz="2800" b="1" dirty="0">
                <a:latin typeface="Times New Roman" panose="02020603050405020304" pitchFamily="18" charset="0"/>
                <a:cs typeface="Times New Roman" panose="02020603050405020304" pitchFamily="18" charset="0"/>
              </a:rPr>
              <a:t>Output</a:t>
            </a:r>
            <a:r>
              <a:rPr lang="en-IN" sz="1400" b="1" dirty="0">
                <a:latin typeface="Times New Roman" panose="02020603050405020304" pitchFamily="18" charset="0"/>
                <a:cs typeface="Times New Roman" panose="02020603050405020304" pitchFamily="18" charset="0"/>
              </a:rPr>
              <a:t> </a:t>
            </a: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405406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E0421C2-B620-8C87-D0FA-422DB9D00469}"/>
              </a:ext>
            </a:extLst>
          </p:cNvPr>
          <p:cNvPicPr>
            <a:picLocks noChangeAspect="1"/>
          </p:cNvPicPr>
          <p:nvPr/>
        </p:nvPicPr>
        <p:blipFill>
          <a:blip r:embed="rId2"/>
          <a:stretch>
            <a:fillRect/>
          </a:stretch>
        </p:blipFill>
        <p:spPr>
          <a:xfrm>
            <a:off x="163956" y="3077069"/>
            <a:ext cx="4071203" cy="2530861"/>
          </a:xfrm>
          <a:prstGeom prst="rect">
            <a:avLst/>
          </a:prstGeom>
        </p:spPr>
      </p:pic>
      <p:pic>
        <p:nvPicPr>
          <p:cNvPr id="8" name="Picture 7">
            <a:extLst>
              <a:ext uri="{FF2B5EF4-FFF2-40B4-BE49-F238E27FC236}">
                <a16:creationId xmlns:a16="http://schemas.microsoft.com/office/drawing/2014/main" id="{52B25577-42F0-212A-0016-57B240FB5ECA}"/>
              </a:ext>
            </a:extLst>
          </p:cNvPr>
          <p:cNvPicPr>
            <a:picLocks noChangeAspect="1"/>
          </p:cNvPicPr>
          <p:nvPr/>
        </p:nvPicPr>
        <p:blipFill>
          <a:blip r:embed="rId3"/>
          <a:stretch>
            <a:fillRect/>
          </a:stretch>
        </p:blipFill>
        <p:spPr>
          <a:xfrm>
            <a:off x="4870569" y="2675545"/>
            <a:ext cx="2632841" cy="2932385"/>
          </a:xfrm>
          <a:prstGeom prst="rect">
            <a:avLst/>
          </a:prstGeom>
        </p:spPr>
      </p:pic>
      <p:sp>
        <p:nvSpPr>
          <p:cNvPr id="12" name="TextBox 11">
            <a:extLst>
              <a:ext uri="{FF2B5EF4-FFF2-40B4-BE49-F238E27FC236}">
                <a16:creationId xmlns:a16="http://schemas.microsoft.com/office/drawing/2014/main" id="{10FB4694-4069-B05A-364B-C2AC951BCF02}"/>
              </a:ext>
            </a:extLst>
          </p:cNvPr>
          <p:cNvSpPr txBox="1"/>
          <p:nvPr/>
        </p:nvSpPr>
        <p:spPr>
          <a:xfrm>
            <a:off x="957754" y="5346320"/>
            <a:ext cx="6093372" cy="307777"/>
          </a:xfrm>
          <a:prstGeom prst="rect">
            <a:avLst/>
          </a:prstGeom>
          <a:noFill/>
        </p:spPr>
        <p:txBody>
          <a:bodyPr wrap="square">
            <a:spAutoFit/>
          </a:bodyPr>
          <a:lstStyle/>
          <a:p>
            <a:r>
              <a:rPr lang="en-IN" sz="1400" b="1" dirty="0">
                <a:solidFill>
                  <a:srgbClr val="000000"/>
                </a:solidFill>
                <a:effectLst/>
                <a:latin typeface="Calibri" panose="020F0502020204030204" pitchFamily="34" charset="0"/>
                <a:ea typeface="Calibri" panose="020F0502020204030204" pitchFamily="34" charset="0"/>
              </a:rPr>
              <a:t>	</a:t>
            </a:r>
            <a:endParaRPr lang="en-IN" dirty="0"/>
          </a:p>
        </p:txBody>
      </p:sp>
      <p:pic>
        <p:nvPicPr>
          <p:cNvPr id="3" name="Picture 2">
            <a:extLst>
              <a:ext uri="{FF2B5EF4-FFF2-40B4-BE49-F238E27FC236}">
                <a16:creationId xmlns:a16="http://schemas.microsoft.com/office/drawing/2014/main" id="{C4EEA366-4466-A927-B324-F0CD8FF8A544}"/>
              </a:ext>
            </a:extLst>
          </p:cNvPr>
          <p:cNvPicPr>
            <a:picLocks noChangeAspect="1"/>
          </p:cNvPicPr>
          <p:nvPr/>
        </p:nvPicPr>
        <p:blipFill>
          <a:blip r:embed="rId4"/>
          <a:stretch>
            <a:fillRect/>
          </a:stretch>
        </p:blipFill>
        <p:spPr>
          <a:xfrm>
            <a:off x="8473879" y="1496818"/>
            <a:ext cx="2812027" cy="2644919"/>
          </a:xfrm>
          <a:prstGeom prst="rect">
            <a:avLst/>
          </a:prstGeom>
        </p:spPr>
      </p:pic>
      <p:sp>
        <p:nvSpPr>
          <p:cNvPr id="4" name="TextBox 3">
            <a:extLst>
              <a:ext uri="{FF2B5EF4-FFF2-40B4-BE49-F238E27FC236}">
                <a16:creationId xmlns:a16="http://schemas.microsoft.com/office/drawing/2014/main" id="{E235C84D-5302-D493-B3B1-B935B8AF2672}"/>
              </a:ext>
            </a:extLst>
          </p:cNvPr>
          <p:cNvSpPr txBox="1"/>
          <p:nvPr/>
        </p:nvSpPr>
        <p:spPr>
          <a:xfrm>
            <a:off x="304799" y="254050"/>
            <a:ext cx="11100619" cy="1607171"/>
          </a:xfrm>
          <a:prstGeom prst="rect">
            <a:avLst/>
          </a:prstGeom>
          <a:noFill/>
        </p:spPr>
        <p:txBody>
          <a:bodyPr wrap="square">
            <a:spAutoFit/>
          </a:bodyPr>
          <a:lstStyle/>
          <a:p>
            <a:pPr marL="628650" marR="2059305" indent="-6350">
              <a:lnSpc>
                <a:spcPct val="110000"/>
              </a:lnSpc>
              <a:spcAft>
                <a:spcPts val="4480"/>
              </a:spcAft>
              <a:buNone/>
            </a:pPr>
            <a:r>
              <a:rPr lang="en-IN" sz="3000" b="1"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What is the average salary range per department?</a:t>
            </a:r>
            <a:endParaRPr lang="en-IN" sz="30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15"/>
              </a:spcAft>
              <a:buNone/>
              <a:tabLst>
                <a:tab pos="1252220" algn="ctr"/>
                <a:tab pos="4930775" algn="ctr"/>
              </a:tabLst>
            </a:pPr>
            <a:r>
              <a:rPr lang="en-IN" sz="200" kern="100" dirty="0">
                <a:solidFill>
                  <a:srgbClr val="000000"/>
                </a:solidFill>
                <a:effectLst/>
                <a:latin typeface="Calibri" panose="020F0502020204030204" pitchFamily="34" charset="0"/>
                <a:ea typeface="Calibri" panose="020F0502020204030204" pitchFamily="34" charset="0"/>
              </a:rPr>
              <a:t>	</a:t>
            </a:r>
            <a:r>
              <a:rPr lang="en-IN" sz="2800" b="1"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Query</a:t>
            </a:r>
            <a:r>
              <a:rPr lang="en-IN" sz="800" b="1" kern="100" dirty="0">
                <a:solidFill>
                  <a:srgbClr val="000000"/>
                </a:solidFill>
                <a:effectLst/>
                <a:latin typeface="Calibri" panose="020F0502020204030204" pitchFamily="34" charset="0"/>
                <a:ea typeface="Calibri" panose="020F0502020204030204" pitchFamily="34" charset="0"/>
              </a:rPr>
              <a:t>	                        </a:t>
            </a:r>
            <a:r>
              <a:rPr lang="en-IN" sz="2800" b="1"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Output</a:t>
            </a:r>
            <a:endParaRPr lang="en-IN" sz="28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3506730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78D42515-338F-320A-C7E9-7784D43B1935}"/>
              </a:ext>
            </a:extLst>
          </p:cNvPr>
          <p:cNvPicPr>
            <a:picLocks noChangeAspect="1"/>
          </p:cNvPicPr>
          <p:nvPr/>
        </p:nvPicPr>
        <p:blipFill>
          <a:blip r:embed="rId2"/>
          <a:stretch>
            <a:fillRect/>
          </a:stretch>
        </p:blipFill>
        <p:spPr>
          <a:xfrm>
            <a:off x="8426921" y="2821864"/>
            <a:ext cx="3509440" cy="3058510"/>
          </a:xfrm>
          <a:prstGeom prst="rect">
            <a:avLst/>
          </a:prstGeom>
        </p:spPr>
      </p:pic>
      <p:pic>
        <p:nvPicPr>
          <p:cNvPr id="4" name="Picture 3">
            <a:extLst>
              <a:ext uri="{FF2B5EF4-FFF2-40B4-BE49-F238E27FC236}">
                <a16:creationId xmlns:a16="http://schemas.microsoft.com/office/drawing/2014/main" id="{11DB423F-B5D5-F821-25C0-B337E9637BAC}"/>
              </a:ext>
            </a:extLst>
          </p:cNvPr>
          <p:cNvPicPr>
            <a:picLocks noChangeAspect="1"/>
          </p:cNvPicPr>
          <p:nvPr/>
        </p:nvPicPr>
        <p:blipFill>
          <a:blip r:embed="rId3"/>
          <a:stretch>
            <a:fillRect/>
          </a:stretch>
        </p:blipFill>
        <p:spPr>
          <a:xfrm>
            <a:off x="4953932" y="1297858"/>
            <a:ext cx="2948661" cy="4276510"/>
          </a:xfrm>
          <a:prstGeom prst="rect">
            <a:avLst/>
          </a:prstGeom>
        </p:spPr>
      </p:pic>
      <p:sp>
        <p:nvSpPr>
          <p:cNvPr id="5" name="TextBox 4">
            <a:extLst>
              <a:ext uri="{FF2B5EF4-FFF2-40B4-BE49-F238E27FC236}">
                <a16:creationId xmlns:a16="http://schemas.microsoft.com/office/drawing/2014/main" id="{8CF13640-DC62-4EDC-30A6-46B989B6AEF8}"/>
              </a:ext>
            </a:extLst>
          </p:cNvPr>
          <p:cNvSpPr txBox="1"/>
          <p:nvPr/>
        </p:nvSpPr>
        <p:spPr>
          <a:xfrm>
            <a:off x="117987" y="243947"/>
            <a:ext cx="8101781" cy="572336"/>
          </a:xfrm>
          <a:prstGeom prst="rect">
            <a:avLst/>
          </a:prstGeom>
          <a:noFill/>
        </p:spPr>
        <p:txBody>
          <a:bodyPr wrap="square">
            <a:spAutoFit/>
          </a:bodyPr>
          <a:lstStyle/>
          <a:p>
            <a:pPr marL="628650" indent="-6350">
              <a:lnSpc>
                <a:spcPct val="110000"/>
              </a:lnSpc>
              <a:spcAft>
                <a:spcPts val="6015"/>
              </a:spcAft>
              <a:buNone/>
            </a:pPr>
            <a:r>
              <a:rPr lang="en-IN" sz="3000" b="1" kern="100" dirty="0">
                <a:solidFill>
                  <a:srgbClr val="000000"/>
                </a:solidFill>
                <a:effectLst/>
                <a:latin typeface="Times New Roman" panose="02020603050405020304" pitchFamily="18" charset="0"/>
                <a:ea typeface="Times New Roman" panose="02020603050405020304" pitchFamily="18" charset="0"/>
              </a:rPr>
              <a:t>Which job roles offer the highest salary?</a:t>
            </a:r>
            <a:endParaRPr lang="en-IN" sz="3000" kern="100" dirty="0">
              <a:solidFill>
                <a:srgbClr val="000000"/>
              </a:solidFill>
              <a:effectLst/>
              <a:latin typeface="Calibri" panose="020F0502020204030204" pitchFamily="34" charset="0"/>
              <a:ea typeface="Calibri" panose="020F0502020204030204" pitchFamily="34" charset="0"/>
            </a:endParaRPr>
          </a:p>
        </p:txBody>
      </p:sp>
      <p:sp>
        <p:nvSpPr>
          <p:cNvPr id="8" name="TextBox 7">
            <a:extLst>
              <a:ext uri="{FF2B5EF4-FFF2-40B4-BE49-F238E27FC236}">
                <a16:creationId xmlns:a16="http://schemas.microsoft.com/office/drawing/2014/main" id="{B4A4A0A7-A4F2-C3A9-E461-598E9B66D5EF}"/>
              </a:ext>
            </a:extLst>
          </p:cNvPr>
          <p:cNvSpPr txBox="1"/>
          <p:nvPr/>
        </p:nvSpPr>
        <p:spPr>
          <a:xfrm>
            <a:off x="894736" y="960010"/>
            <a:ext cx="6096000" cy="661720"/>
          </a:xfrm>
          <a:prstGeom prst="rect">
            <a:avLst/>
          </a:prstGeom>
          <a:noFill/>
        </p:spPr>
        <p:txBody>
          <a:bodyPr wrap="square">
            <a:spAutoFit/>
          </a:bodyPr>
          <a:lstStyle/>
          <a:p>
            <a:r>
              <a:rPr lang="en-IN" sz="2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Query                                                                 </a:t>
            </a:r>
            <a:r>
              <a:rPr lang="en-IN" sz="900" b="1" dirty="0">
                <a:solidFill>
                  <a:srgbClr val="000000"/>
                </a:solidFill>
                <a:effectLst/>
                <a:latin typeface="Calibri" panose="020F0502020204030204" pitchFamily="34" charset="0"/>
                <a:ea typeface="Calibri" panose="020F0502020204030204" pitchFamily="34" charset="0"/>
              </a:rPr>
              <a:t>	</a:t>
            </a:r>
            <a:endParaRPr lang="en-IN" dirty="0"/>
          </a:p>
        </p:txBody>
      </p:sp>
      <p:sp>
        <p:nvSpPr>
          <p:cNvPr id="11" name="TextBox 10">
            <a:extLst>
              <a:ext uri="{FF2B5EF4-FFF2-40B4-BE49-F238E27FC236}">
                <a16:creationId xmlns:a16="http://schemas.microsoft.com/office/drawing/2014/main" id="{2DDCEE41-B7E4-4E7C-FDB9-5DB67AA9287C}"/>
              </a:ext>
            </a:extLst>
          </p:cNvPr>
          <p:cNvSpPr txBox="1"/>
          <p:nvPr/>
        </p:nvSpPr>
        <p:spPr>
          <a:xfrm>
            <a:off x="9089664" y="1849374"/>
            <a:ext cx="6096000" cy="523220"/>
          </a:xfrm>
          <a:prstGeom prst="rect">
            <a:avLst/>
          </a:prstGeom>
          <a:noFill/>
        </p:spPr>
        <p:txBody>
          <a:bodyPr wrap="square">
            <a:spAutoFit/>
          </a:bodyPr>
          <a:lstStyle/>
          <a:p>
            <a:r>
              <a:rPr lang="en-IN" sz="2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Output</a:t>
            </a:r>
            <a:endParaRPr lang="en-IN" sz="2800" dirty="0"/>
          </a:p>
        </p:txBody>
      </p:sp>
      <p:pic>
        <p:nvPicPr>
          <p:cNvPr id="2" name="Picture 1">
            <a:extLst>
              <a:ext uri="{FF2B5EF4-FFF2-40B4-BE49-F238E27FC236}">
                <a16:creationId xmlns:a16="http://schemas.microsoft.com/office/drawing/2014/main" id="{7836A23F-43FE-4FBA-45E9-AD86765BDD5E}"/>
              </a:ext>
            </a:extLst>
          </p:cNvPr>
          <p:cNvPicPr>
            <a:picLocks noChangeAspect="1"/>
          </p:cNvPicPr>
          <p:nvPr/>
        </p:nvPicPr>
        <p:blipFill>
          <a:blip r:embed="rId4"/>
          <a:stretch>
            <a:fillRect/>
          </a:stretch>
        </p:blipFill>
        <p:spPr>
          <a:xfrm>
            <a:off x="381808" y="1765458"/>
            <a:ext cx="4925112" cy="2112811"/>
          </a:xfrm>
          <a:prstGeom prst="rect">
            <a:avLst/>
          </a:prstGeom>
        </p:spPr>
      </p:pic>
    </p:spTree>
    <p:extLst>
      <p:ext uri="{BB962C8B-B14F-4D97-AF65-F5344CB8AC3E}">
        <p14:creationId xmlns:p14="http://schemas.microsoft.com/office/powerpoint/2010/main" val="20508447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D21F02E-1BD6-F12F-5E25-2F76A16A99D5}"/>
              </a:ext>
            </a:extLst>
          </p:cNvPr>
          <p:cNvPicPr>
            <a:picLocks noChangeAspect="1"/>
          </p:cNvPicPr>
          <p:nvPr/>
        </p:nvPicPr>
        <p:blipFill>
          <a:blip r:embed="rId2"/>
          <a:stretch>
            <a:fillRect/>
          </a:stretch>
        </p:blipFill>
        <p:spPr>
          <a:xfrm>
            <a:off x="338088" y="2125980"/>
            <a:ext cx="4582563" cy="2606040"/>
          </a:xfrm>
          <a:prstGeom prst="rect">
            <a:avLst/>
          </a:prstGeom>
        </p:spPr>
      </p:pic>
      <p:pic>
        <p:nvPicPr>
          <p:cNvPr id="6" name="Picture 5">
            <a:extLst>
              <a:ext uri="{FF2B5EF4-FFF2-40B4-BE49-F238E27FC236}">
                <a16:creationId xmlns:a16="http://schemas.microsoft.com/office/drawing/2014/main" id="{A10AE4D0-1E40-5FD6-8D36-49BA9C4FD689}"/>
              </a:ext>
            </a:extLst>
          </p:cNvPr>
          <p:cNvPicPr>
            <a:picLocks noChangeAspect="1"/>
          </p:cNvPicPr>
          <p:nvPr/>
        </p:nvPicPr>
        <p:blipFill>
          <a:blip r:embed="rId3"/>
          <a:stretch>
            <a:fillRect/>
          </a:stretch>
        </p:blipFill>
        <p:spPr>
          <a:xfrm>
            <a:off x="8846540" y="3244893"/>
            <a:ext cx="2810267" cy="2453640"/>
          </a:xfrm>
          <a:prstGeom prst="rect">
            <a:avLst/>
          </a:prstGeom>
        </p:spPr>
      </p:pic>
      <p:pic>
        <p:nvPicPr>
          <p:cNvPr id="7" name="Picture 6">
            <a:extLst>
              <a:ext uri="{FF2B5EF4-FFF2-40B4-BE49-F238E27FC236}">
                <a16:creationId xmlns:a16="http://schemas.microsoft.com/office/drawing/2014/main" id="{61EBC46F-7FED-5A0B-FF5B-6F7229F01EB6}"/>
              </a:ext>
            </a:extLst>
          </p:cNvPr>
          <p:cNvPicPr>
            <a:picLocks noChangeAspect="1"/>
          </p:cNvPicPr>
          <p:nvPr/>
        </p:nvPicPr>
        <p:blipFill>
          <a:blip r:embed="rId4"/>
          <a:stretch>
            <a:fillRect/>
          </a:stretch>
        </p:blipFill>
        <p:spPr>
          <a:xfrm>
            <a:off x="5004919" y="1308826"/>
            <a:ext cx="3673085" cy="3614866"/>
          </a:xfrm>
          <a:prstGeom prst="rect">
            <a:avLst/>
          </a:prstGeom>
        </p:spPr>
      </p:pic>
      <p:sp>
        <p:nvSpPr>
          <p:cNvPr id="4" name="TextBox 3">
            <a:extLst>
              <a:ext uri="{FF2B5EF4-FFF2-40B4-BE49-F238E27FC236}">
                <a16:creationId xmlns:a16="http://schemas.microsoft.com/office/drawing/2014/main" id="{83CCD65C-3310-9818-20F5-30F961F6664B}"/>
              </a:ext>
            </a:extLst>
          </p:cNvPr>
          <p:cNvSpPr txBox="1"/>
          <p:nvPr/>
        </p:nvSpPr>
        <p:spPr>
          <a:xfrm>
            <a:off x="0" y="0"/>
            <a:ext cx="10982632" cy="1809213"/>
          </a:xfrm>
          <a:prstGeom prst="rect">
            <a:avLst/>
          </a:prstGeom>
          <a:noFill/>
        </p:spPr>
        <p:txBody>
          <a:bodyPr wrap="square">
            <a:spAutoFit/>
          </a:bodyPr>
          <a:lstStyle/>
          <a:p>
            <a:pPr marL="628650" indent="-6350">
              <a:lnSpc>
                <a:spcPct val="110000"/>
              </a:lnSpc>
              <a:spcAft>
                <a:spcPts val="6015"/>
              </a:spcAft>
              <a:buNone/>
            </a:pPr>
            <a:r>
              <a:rPr lang="en-IN" sz="3000" b="1" kern="100" dirty="0">
                <a:solidFill>
                  <a:srgbClr val="000000"/>
                </a:solidFill>
                <a:effectLst/>
                <a:latin typeface="Times New Roman" panose="02020603050405020304" pitchFamily="18" charset="0"/>
                <a:ea typeface="Times New Roman" panose="02020603050405020304" pitchFamily="18" charset="0"/>
              </a:rPr>
              <a:t>Which departments have the highest total salary allocation?</a:t>
            </a:r>
            <a:endParaRPr lang="en-IN" sz="3000" b="1" kern="100" dirty="0">
              <a:latin typeface="Times New Roman" panose="02020603050405020304" pitchFamily="18" charset="0"/>
              <a:ea typeface="Times New Roman" panose="02020603050405020304" pitchFamily="18" charset="0"/>
            </a:endParaRPr>
          </a:p>
          <a:p>
            <a:pPr marL="628650" indent="-6350">
              <a:lnSpc>
                <a:spcPct val="110000"/>
              </a:lnSpc>
              <a:spcAft>
                <a:spcPts val="6015"/>
              </a:spcAft>
              <a:buNone/>
            </a:pPr>
            <a:r>
              <a:rPr lang="en-IN" sz="2800" b="1" kern="100" dirty="0">
                <a:latin typeface="Times New Roman" panose="02020603050405020304" pitchFamily="18" charset="0"/>
                <a:ea typeface="Calibri" panose="020F0502020204030204" pitchFamily="34" charset="0"/>
                <a:cs typeface="Times New Roman" panose="02020603050405020304" pitchFamily="18" charset="0"/>
              </a:rPr>
              <a:t>Query </a:t>
            </a:r>
            <a:endParaRPr lang="en-IN" sz="28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D557401A-DEC2-5DC5-9B84-F33A0CE7E9B5}"/>
              </a:ext>
            </a:extLst>
          </p:cNvPr>
          <p:cNvSpPr txBox="1"/>
          <p:nvPr/>
        </p:nvSpPr>
        <p:spPr>
          <a:xfrm>
            <a:off x="9684774" y="1975739"/>
            <a:ext cx="6096000" cy="523220"/>
          </a:xfrm>
          <a:prstGeom prst="rect">
            <a:avLst/>
          </a:prstGeom>
          <a:noFill/>
        </p:spPr>
        <p:txBody>
          <a:bodyPr wrap="square">
            <a:spAutoFit/>
          </a:bodyPr>
          <a:lstStyle/>
          <a:p>
            <a:r>
              <a:rPr lang="en-IN" sz="2800" b="1" kern="100" dirty="0">
                <a:latin typeface="Times New Roman" panose="02020603050405020304" pitchFamily="18" charset="0"/>
                <a:ea typeface="Calibri" panose="020F0502020204030204" pitchFamily="34" charset="0"/>
                <a:cs typeface="Times New Roman" panose="02020603050405020304" pitchFamily="18" charset="0"/>
              </a:rPr>
              <a:t>Output </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13985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EB06925-BDED-9A4D-2FF5-6E22CD0E3D5D}"/>
              </a:ext>
            </a:extLst>
          </p:cNvPr>
          <p:cNvPicPr>
            <a:picLocks noChangeAspect="1"/>
          </p:cNvPicPr>
          <p:nvPr/>
        </p:nvPicPr>
        <p:blipFill>
          <a:blip r:embed="rId2"/>
          <a:stretch>
            <a:fillRect/>
          </a:stretch>
        </p:blipFill>
        <p:spPr>
          <a:xfrm>
            <a:off x="78449" y="3070251"/>
            <a:ext cx="5620534" cy="998216"/>
          </a:xfrm>
          <a:prstGeom prst="rect">
            <a:avLst/>
          </a:prstGeom>
        </p:spPr>
      </p:pic>
      <p:pic>
        <p:nvPicPr>
          <p:cNvPr id="9" name="Picture 8">
            <a:extLst>
              <a:ext uri="{FF2B5EF4-FFF2-40B4-BE49-F238E27FC236}">
                <a16:creationId xmlns:a16="http://schemas.microsoft.com/office/drawing/2014/main" id="{2C211566-8E08-558C-79C2-441287F0DEEE}"/>
              </a:ext>
            </a:extLst>
          </p:cNvPr>
          <p:cNvPicPr>
            <a:picLocks noChangeAspect="1"/>
          </p:cNvPicPr>
          <p:nvPr/>
        </p:nvPicPr>
        <p:blipFill>
          <a:blip r:embed="rId3"/>
          <a:stretch>
            <a:fillRect/>
          </a:stretch>
        </p:blipFill>
        <p:spPr>
          <a:xfrm>
            <a:off x="8994058" y="4173557"/>
            <a:ext cx="2987040" cy="800096"/>
          </a:xfrm>
          <a:prstGeom prst="rect">
            <a:avLst/>
          </a:prstGeom>
        </p:spPr>
      </p:pic>
      <p:pic>
        <p:nvPicPr>
          <p:cNvPr id="4" name="Picture 3">
            <a:extLst>
              <a:ext uri="{FF2B5EF4-FFF2-40B4-BE49-F238E27FC236}">
                <a16:creationId xmlns:a16="http://schemas.microsoft.com/office/drawing/2014/main" id="{A2F46274-89EA-9293-E450-32311D4BEF7C}"/>
              </a:ext>
            </a:extLst>
          </p:cNvPr>
          <p:cNvPicPr>
            <a:picLocks noChangeAspect="1"/>
          </p:cNvPicPr>
          <p:nvPr/>
        </p:nvPicPr>
        <p:blipFill>
          <a:blip r:embed="rId4"/>
          <a:stretch>
            <a:fillRect/>
          </a:stretch>
        </p:blipFill>
        <p:spPr>
          <a:xfrm>
            <a:off x="5781512" y="1447868"/>
            <a:ext cx="2926080" cy="4319886"/>
          </a:xfrm>
          <a:prstGeom prst="rect">
            <a:avLst/>
          </a:prstGeom>
        </p:spPr>
      </p:pic>
      <p:sp>
        <p:nvSpPr>
          <p:cNvPr id="3" name="TextBox 2">
            <a:extLst>
              <a:ext uri="{FF2B5EF4-FFF2-40B4-BE49-F238E27FC236}">
                <a16:creationId xmlns:a16="http://schemas.microsoft.com/office/drawing/2014/main" id="{BCFE1860-0059-9005-462A-E8941DFBD5CC}"/>
              </a:ext>
            </a:extLst>
          </p:cNvPr>
          <p:cNvSpPr txBox="1"/>
          <p:nvPr/>
        </p:nvSpPr>
        <p:spPr>
          <a:xfrm>
            <a:off x="481780" y="125362"/>
            <a:ext cx="8672051" cy="560731"/>
          </a:xfrm>
          <a:prstGeom prst="rect">
            <a:avLst/>
          </a:prstGeom>
          <a:noFill/>
        </p:spPr>
        <p:txBody>
          <a:bodyPr wrap="square">
            <a:spAutoFit/>
          </a:bodyPr>
          <a:lstStyle/>
          <a:p>
            <a:pPr lvl="0" fontAlgn="base">
              <a:lnSpc>
                <a:spcPct val="110000"/>
              </a:lnSpc>
              <a:spcAft>
                <a:spcPts val="800"/>
              </a:spcAft>
              <a:buClr>
                <a:srgbClr val="000000"/>
              </a:buClr>
              <a:buSzPts val="3000"/>
            </a:pPr>
            <a:r>
              <a:rPr lang="en-IN" sz="3000" b="1" u="none" strike="noStrike" kern="100" dirty="0">
                <a:solidFill>
                  <a:srgbClr val="000000"/>
                </a:solidFill>
                <a:effectLst/>
                <a:uFill>
                  <a:solidFill>
                    <a:srgbClr val="000000"/>
                  </a:solidFill>
                </a:uFill>
                <a:latin typeface="+mj-lt"/>
                <a:ea typeface="Times New Roman" panose="02020603050405020304" pitchFamily="18" charset="0"/>
                <a:cs typeface="Times New Roman" panose="02020603050405020304" pitchFamily="18" charset="0"/>
              </a:rPr>
              <a:t>3.QUALIFICATION AND SKILLS ANALYSIS</a:t>
            </a:r>
            <a:endParaRPr lang="en-IN" sz="3000" u="none" strike="noStrike" kern="100" dirty="0">
              <a:solidFill>
                <a:srgbClr val="000000"/>
              </a:solidFill>
              <a:effectLst/>
              <a:uFill>
                <a:solidFill>
                  <a:srgbClr val="000000"/>
                </a:solidFill>
              </a:uFill>
              <a:latin typeface="+mj-lt"/>
              <a:ea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819699E4-BC57-EA28-E21D-9F837110C955}"/>
              </a:ext>
            </a:extLst>
          </p:cNvPr>
          <p:cNvSpPr txBox="1"/>
          <p:nvPr/>
        </p:nvSpPr>
        <p:spPr>
          <a:xfrm>
            <a:off x="-293956" y="790382"/>
            <a:ext cx="11326969" cy="1898981"/>
          </a:xfrm>
          <a:prstGeom prst="rect">
            <a:avLst/>
          </a:prstGeom>
          <a:noFill/>
        </p:spPr>
        <p:txBody>
          <a:bodyPr wrap="square">
            <a:spAutoFit/>
          </a:bodyPr>
          <a:lstStyle/>
          <a:p>
            <a:pPr marL="628650" indent="-6350">
              <a:lnSpc>
                <a:spcPct val="110000"/>
              </a:lnSpc>
              <a:spcAft>
                <a:spcPts val="6710"/>
              </a:spcAft>
              <a:buNone/>
            </a:pPr>
            <a:r>
              <a:rPr lang="en-IN" sz="3000" b="1" kern="100" dirty="0">
                <a:solidFill>
                  <a:srgbClr val="000000"/>
                </a:solidFill>
                <a:effectLst/>
                <a:latin typeface="Times New Roman" panose="02020603050405020304" pitchFamily="18" charset="0"/>
                <a:ea typeface="Times New Roman" panose="02020603050405020304" pitchFamily="18" charset="0"/>
              </a:rPr>
              <a:t>How many employees have at least one qualification listed?</a:t>
            </a:r>
            <a:endParaRPr lang="en-IN" sz="2800" b="1"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628650" indent="-6350">
              <a:lnSpc>
                <a:spcPct val="110000"/>
              </a:lnSpc>
              <a:spcAft>
                <a:spcPts val="6710"/>
              </a:spcAft>
              <a:buNone/>
            </a:pPr>
            <a:r>
              <a:rPr lang="en-IN" sz="2800" b="1" kern="100" dirty="0">
                <a:latin typeface="Times New Roman" panose="02020603050405020304" pitchFamily="18" charset="0"/>
                <a:ea typeface="Calibri" panose="020F0502020204030204" pitchFamily="34" charset="0"/>
                <a:cs typeface="Times New Roman" panose="02020603050405020304" pitchFamily="18" charset="0"/>
              </a:rPr>
              <a:t>Query</a:t>
            </a:r>
            <a:endParaRPr lang="en-IN" sz="1400" b="1" kern="100" dirty="0">
              <a:latin typeface="Times New Roman" panose="02020603050405020304" pitchFamily="18" charset="0"/>
              <a:ea typeface="Calibri" panose="020F0502020204030204" pitchFamily="34" charset="0"/>
            </a:endParaRPr>
          </a:p>
        </p:txBody>
      </p:sp>
      <p:sp>
        <p:nvSpPr>
          <p:cNvPr id="10" name="TextBox 9">
            <a:extLst>
              <a:ext uri="{FF2B5EF4-FFF2-40B4-BE49-F238E27FC236}">
                <a16:creationId xmlns:a16="http://schemas.microsoft.com/office/drawing/2014/main" id="{0EDFE582-F912-FBC5-B09C-CD699592BE61}"/>
              </a:ext>
            </a:extLst>
          </p:cNvPr>
          <p:cNvSpPr txBox="1"/>
          <p:nvPr/>
        </p:nvSpPr>
        <p:spPr>
          <a:xfrm>
            <a:off x="8994058" y="2785422"/>
            <a:ext cx="6395884" cy="954107"/>
          </a:xfrm>
          <a:prstGeom prst="rect">
            <a:avLst/>
          </a:prstGeom>
          <a:noFill/>
        </p:spPr>
        <p:txBody>
          <a:bodyPr wrap="square">
            <a:spAutoFit/>
          </a:bodyPr>
          <a:lstStyle/>
          <a:p>
            <a:endParaRPr lang="en-IN" sz="2800" b="1" kern="100" dirty="0">
              <a:latin typeface="Times New Roman" panose="02020603050405020304" pitchFamily="18" charset="0"/>
              <a:ea typeface="Calibri" panose="020F0502020204030204" pitchFamily="34" charset="0"/>
              <a:cs typeface="Times New Roman" panose="02020603050405020304" pitchFamily="18" charset="0"/>
            </a:endParaRPr>
          </a:p>
          <a:p>
            <a:r>
              <a:rPr lang="en-IN" sz="2800" b="1" kern="100" dirty="0">
                <a:latin typeface="Times New Roman" panose="02020603050405020304" pitchFamily="18" charset="0"/>
                <a:ea typeface="Calibri" panose="020F0502020204030204" pitchFamily="34" charset="0"/>
                <a:cs typeface="Times New Roman" panose="02020603050405020304" pitchFamily="18" charset="0"/>
              </a:rPr>
              <a:t>Output</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867295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C4318A53-DF2E-DD56-5552-6DB9664AD660}"/>
              </a:ext>
            </a:extLst>
          </p:cNvPr>
          <p:cNvPicPr>
            <a:picLocks noChangeAspect="1"/>
          </p:cNvPicPr>
          <p:nvPr/>
        </p:nvPicPr>
        <p:blipFill>
          <a:blip r:embed="rId2"/>
          <a:stretch>
            <a:fillRect/>
          </a:stretch>
        </p:blipFill>
        <p:spPr>
          <a:xfrm>
            <a:off x="275303" y="2486341"/>
            <a:ext cx="4858428" cy="1992782"/>
          </a:xfrm>
          <a:prstGeom prst="rect">
            <a:avLst/>
          </a:prstGeom>
        </p:spPr>
      </p:pic>
      <p:pic>
        <p:nvPicPr>
          <p:cNvPr id="16" name="Picture 15">
            <a:extLst>
              <a:ext uri="{FF2B5EF4-FFF2-40B4-BE49-F238E27FC236}">
                <a16:creationId xmlns:a16="http://schemas.microsoft.com/office/drawing/2014/main" id="{360FB13B-C7B6-FF47-B2E1-4BE7AB877FAA}"/>
              </a:ext>
            </a:extLst>
          </p:cNvPr>
          <p:cNvPicPr>
            <a:picLocks noChangeAspect="1"/>
          </p:cNvPicPr>
          <p:nvPr/>
        </p:nvPicPr>
        <p:blipFill>
          <a:blip r:embed="rId3"/>
          <a:stretch>
            <a:fillRect/>
          </a:stretch>
        </p:blipFill>
        <p:spPr>
          <a:xfrm>
            <a:off x="5475502" y="2212021"/>
            <a:ext cx="3381847" cy="2541422"/>
          </a:xfrm>
          <a:prstGeom prst="rect">
            <a:avLst/>
          </a:prstGeom>
        </p:spPr>
      </p:pic>
      <p:pic>
        <p:nvPicPr>
          <p:cNvPr id="3" name="Picture 2">
            <a:extLst>
              <a:ext uri="{FF2B5EF4-FFF2-40B4-BE49-F238E27FC236}">
                <a16:creationId xmlns:a16="http://schemas.microsoft.com/office/drawing/2014/main" id="{0BAFE312-AE55-58F7-ABB0-01BDA4A1131C}"/>
              </a:ext>
            </a:extLst>
          </p:cNvPr>
          <p:cNvPicPr>
            <a:picLocks noChangeAspect="1"/>
          </p:cNvPicPr>
          <p:nvPr/>
        </p:nvPicPr>
        <p:blipFill>
          <a:blip r:embed="rId4"/>
          <a:stretch>
            <a:fillRect/>
          </a:stretch>
        </p:blipFill>
        <p:spPr>
          <a:xfrm>
            <a:off x="8927691" y="1120877"/>
            <a:ext cx="3195483" cy="3217116"/>
          </a:xfrm>
          <a:prstGeom prst="rect">
            <a:avLst/>
          </a:prstGeom>
        </p:spPr>
      </p:pic>
      <p:sp>
        <p:nvSpPr>
          <p:cNvPr id="4" name="TextBox 3">
            <a:extLst>
              <a:ext uri="{FF2B5EF4-FFF2-40B4-BE49-F238E27FC236}">
                <a16:creationId xmlns:a16="http://schemas.microsoft.com/office/drawing/2014/main" id="{A5204D1A-5866-4D08-F3EF-1E19014984A3}"/>
              </a:ext>
            </a:extLst>
          </p:cNvPr>
          <p:cNvSpPr txBox="1"/>
          <p:nvPr/>
        </p:nvSpPr>
        <p:spPr>
          <a:xfrm>
            <a:off x="275302" y="0"/>
            <a:ext cx="10618839" cy="1796389"/>
          </a:xfrm>
          <a:prstGeom prst="rect">
            <a:avLst/>
          </a:prstGeom>
          <a:noFill/>
        </p:spPr>
        <p:txBody>
          <a:bodyPr wrap="square">
            <a:spAutoFit/>
          </a:bodyPr>
          <a:lstStyle/>
          <a:p>
            <a:pPr marL="628650" indent="-6350">
              <a:lnSpc>
                <a:spcPct val="110000"/>
              </a:lnSpc>
              <a:spcAft>
                <a:spcPts val="5895"/>
              </a:spcAft>
              <a:buNone/>
            </a:pPr>
            <a:r>
              <a:rPr lang="en-IN" sz="3000" b="1" kern="100" dirty="0">
                <a:solidFill>
                  <a:srgbClr val="000000"/>
                </a:solidFill>
                <a:effectLst/>
                <a:latin typeface="Times New Roman" panose="02020603050405020304" pitchFamily="18" charset="0"/>
                <a:ea typeface="Times New Roman" panose="02020603050405020304" pitchFamily="18" charset="0"/>
              </a:rPr>
              <a:t>Which positions require the most qualifications?</a:t>
            </a:r>
          </a:p>
          <a:p>
            <a:pPr marL="628650" indent="-6350">
              <a:lnSpc>
                <a:spcPct val="110000"/>
              </a:lnSpc>
              <a:spcAft>
                <a:spcPts val="5895"/>
              </a:spcAft>
              <a:buNone/>
            </a:pPr>
            <a:r>
              <a:rPr lang="en-IN" sz="2800" b="1" kern="100" dirty="0">
                <a:latin typeface="Times New Roman" panose="02020603050405020304" pitchFamily="18" charset="0"/>
                <a:ea typeface="Calibri" panose="020F0502020204030204" pitchFamily="34" charset="0"/>
              </a:rPr>
              <a:t>Query                                                Output</a:t>
            </a:r>
            <a:endParaRPr lang="en-IN" sz="2800" kern="100" dirty="0">
              <a:solidFill>
                <a:srgbClr val="000000"/>
              </a:solidFill>
              <a:effectLst/>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24052430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786348E-58DB-C283-42DF-B976BBCA9450}"/>
              </a:ext>
            </a:extLst>
          </p:cNvPr>
          <p:cNvPicPr>
            <a:picLocks noChangeAspect="1"/>
          </p:cNvPicPr>
          <p:nvPr/>
        </p:nvPicPr>
        <p:blipFill>
          <a:blip r:embed="rId2"/>
          <a:stretch>
            <a:fillRect/>
          </a:stretch>
        </p:blipFill>
        <p:spPr>
          <a:xfrm>
            <a:off x="314633" y="3161266"/>
            <a:ext cx="4706007" cy="1706880"/>
          </a:xfrm>
          <a:prstGeom prst="rect">
            <a:avLst/>
          </a:prstGeom>
        </p:spPr>
      </p:pic>
      <p:pic>
        <p:nvPicPr>
          <p:cNvPr id="5" name="Picture 4">
            <a:extLst>
              <a:ext uri="{FF2B5EF4-FFF2-40B4-BE49-F238E27FC236}">
                <a16:creationId xmlns:a16="http://schemas.microsoft.com/office/drawing/2014/main" id="{E7A7C19B-577F-F8A2-FC08-B8E7E4C92EF1}"/>
              </a:ext>
            </a:extLst>
          </p:cNvPr>
          <p:cNvPicPr>
            <a:picLocks noChangeAspect="1"/>
          </p:cNvPicPr>
          <p:nvPr/>
        </p:nvPicPr>
        <p:blipFill>
          <a:blip r:embed="rId3"/>
          <a:stretch>
            <a:fillRect/>
          </a:stretch>
        </p:blipFill>
        <p:spPr>
          <a:xfrm>
            <a:off x="5553305" y="2958323"/>
            <a:ext cx="3154680" cy="2895600"/>
          </a:xfrm>
          <a:prstGeom prst="rect">
            <a:avLst/>
          </a:prstGeom>
        </p:spPr>
      </p:pic>
      <p:pic>
        <p:nvPicPr>
          <p:cNvPr id="4" name="Picture 3">
            <a:extLst>
              <a:ext uri="{FF2B5EF4-FFF2-40B4-BE49-F238E27FC236}">
                <a16:creationId xmlns:a16="http://schemas.microsoft.com/office/drawing/2014/main" id="{6C5DBD0B-A4E1-B35F-5FB1-9F0B917CBB08}"/>
              </a:ext>
            </a:extLst>
          </p:cNvPr>
          <p:cNvPicPr>
            <a:picLocks noChangeAspect="1"/>
          </p:cNvPicPr>
          <p:nvPr/>
        </p:nvPicPr>
        <p:blipFill>
          <a:blip r:embed="rId4"/>
          <a:stretch>
            <a:fillRect/>
          </a:stretch>
        </p:blipFill>
        <p:spPr>
          <a:xfrm>
            <a:off x="8916978" y="1289188"/>
            <a:ext cx="3275021" cy="3369671"/>
          </a:xfrm>
          <a:prstGeom prst="rect">
            <a:avLst/>
          </a:prstGeom>
        </p:spPr>
      </p:pic>
      <p:sp>
        <p:nvSpPr>
          <p:cNvPr id="6" name="TextBox 5">
            <a:extLst>
              <a:ext uri="{FF2B5EF4-FFF2-40B4-BE49-F238E27FC236}">
                <a16:creationId xmlns:a16="http://schemas.microsoft.com/office/drawing/2014/main" id="{1BFFE585-8D69-CD2D-28E7-9721AC57E0B3}"/>
              </a:ext>
            </a:extLst>
          </p:cNvPr>
          <p:cNvSpPr txBox="1"/>
          <p:nvPr/>
        </p:nvSpPr>
        <p:spPr>
          <a:xfrm>
            <a:off x="1" y="126498"/>
            <a:ext cx="8916978" cy="2325380"/>
          </a:xfrm>
          <a:prstGeom prst="rect">
            <a:avLst/>
          </a:prstGeom>
          <a:noFill/>
        </p:spPr>
        <p:txBody>
          <a:bodyPr wrap="square">
            <a:spAutoFit/>
          </a:bodyPr>
          <a:lstStyle/>
          <a:p>
            <a:pPr marL="628650" indent="-6350">
              <a:lnSpc>
                <a:spcPct val="110000"/>
              </a:lnSpc>
              <a:spcAft>
                <a:spcPts val="6015"/>
              </a:spcAft>
              <a:buNone/>
            </a:pPr>
            <a:r>
              <a:rPr lang="en-IN" sz="3000" b="1" kern="100" dirty="0">
                <a:solidFill>
                  <a:srgbClr val="000000"/>
                </a:solidFill>
                <a:effectLst/>
                <a:latin typeface="Times New Roman" panose="02020603050405020304" pitchFamily="18" charset="0"/>
                <a:ea typeface="Times New Roman" panose="02020603050405020304" pitchFamily="18" charset="0"/>
              </a:rPr>
              <a:t>Which employees have the highest number of qualifications?</a:t>
            </a:r>
          </a:p>
          <a:p>
            <a:pPr marL="628650" indent="-6350">
              <a:lnSpc>
                <a:spcPct val="110000"/>
              </a:lnSpc>
              <a:spcAft>
                <a:spcPts val="6015"/>
              </a:spcAft>
              <a:buNone/>
            </a:pPr>
            <a:r>
              <a:rPr lang="en-IN" sz="2800" b="1" kern="100" dirty="0">
                <a:latin typeface="Times New Roman" panose="02020603050405020304" pitchFamily="18" charset="0"/>
                <a:ea typeface="Calibri" panose="020F0502020204030204" pitchFamily="34" charset="0"/>
              </a:rPr>
              <a:t>Query                                                Output</a:t>
            </a:r>
            <a:endParaRPr lang="en-IN" sz="2800" kern="100" dirty="0">
              <a:solidFill>
                <a:srgbClr val="000000"/>
              </a:solidFill>
              <a:effectLst/>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19291893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097F267-0C55-8D71-EB9F-811EFA573AA2}"/>
              </a:ext>
            </a:extLst>
          </p:cNvPr>
          <p:cNvPicPr>
            <a:picLocks noChangeAspect="1"/>
          </p:cNvPicPr>
          <p:nvPr/>
        </p:nvPicPr>
        <p:blipFill>
          <a:blip r:embed="rId2"/>
          <a:stretch>
            <a:fillRect/>
          </a:stretch>
        </p:blipFill>
        <p:spPr>
          <a:xfrm>
            <a:off x="580482" y="3204739"/>
            <a:ext cx="3724487" cy="2255519"/>
          </a:xfrm>
          <a:prstGeom prst="rect">
            <a:avLst/>
          </a:prstGeom>
        </p:spPr>
      </p:pic>
      <p:pic>
        <p:nvPicPr>
          <p:cNvPr id="7" name="Picture 6">
            <a:extLst>
              <a:ext uri="{FF2B5EF4-FFF2-40B4-BE49-F238E27FC236}">
                <a16:creationId xmlns:a16="http://schemas.microsoft.com/office/drawing/2014/main" id="{A04DCC2E-B5A7-1434-25AE-6D3097E4A631}"/>
              </a:ext>
            </a:extLst>
          </p:cNvPr>
          <p:cNvPicPr>
            <a:picLocks noChangeAspect="1"/>
          </p:cNvPicPr>
          <p:nvPr/>
        </p:nvPicPr>
        <p:blipFill>
          <a:blip r:embed="rId3"/>
          <a:stretch>
            <a:fillRect/>
          </a:stretch>
        </p:blipFill>
        <p:spPr>
          <a:xfrm>
            <a:off x="5346663" y="3358661"/>
            <a:ext cx="2968189" cy="1068744"/>
          </a:xfrm>
          <a:prstGeom prst="rect">
            <a:avLst/>
          </a:prstGeom>
        </p:spPr>
      </p:pic>
      <p:pic>
        <p:nvPicPr>
          <p:cNvPr id="6" name="Picture 5">
            <a:extLst>
              <a:ext uri="{FF2B5EF4-FFF2-40B4-BE49-F238E27FC236}">
                <a16:creationId xmlns:a16="http://schemas.microsoft.com/office/drawing/2014/main" id="{31B5962A-CF9E-E40E-8699-3D9ECF28E455}"/>
              </a:ext>
            </a:extLst>
          </p:cNvPr>
          <p:cNvPicPr>
            <a:picLocks noChangeAspect="1"/>
          </p:cNvPicPr>
          <p:nvPr/>
        </p:nvPicPr>
        <p:blipFill>
          <a:blip r:embed="rId4"/>
          <a:stretch>
            <a:fillRect/>
          </a:stretch>
        </p:blipFill>
        <p:spPr>
          <a:xfrm>
            <a:off x="8688597" y="874420"/>
            <a:ext cx="3398227" cy="3884393"/>
          </a:xfrm>
          <a:prstGeom prst="rect">
            <a:avLst/>
          </a:prstGeom>
        </p:spPr>
      </p:pic>
      <p:sp>
        <p:nvSpPr>
          <p:cNvPr id="3" name="TextBox 2">
            <a:extLst>
              <a:ext uri="{FF2B5EF4-FFF2-40B4-BE49-F238E27FC236}">
                <a16:creationId xmlns:a16="http://schemas.microsoft.com/office/drawing/2014/main" id="{9A558447-278B-6B52-1C8E-619414BA9BBD}"/>
              </a:ext>
            </a:extLst>
          </p:cNvPr>
          <p:cNvSpPr txBox="1"/>
          <p:nvPr/>
        </p:nvSpPr>
        <p:spPr>
          <a:xfrm>
            <a:off x="1106129" y="117003"/>
            <a:ext cx="8008374" cy="560731"/>
          </a:xfrm>
          <a:prstGeom prst="rect">
            <a:avLst/>
          </a:prstGeom>
          <a:noFill/>
        </p:spPr>
        <p:txBody>
          <a:bodyPr wrap="square">
            <a:spAutoFit/>
          </a:bodyPr>
          <a:lstStyle/>
          <a:p>
            <a:pPr lvl="0" fontAlgn="base">
              <a:lnSpc>
                <a:spcPct val="110000"/>
              </a:lnSpc>
              <a:spcAft>
                <a:spcPts val="800"/>
              </a:spcAft>
              <a:buClr>
                <a:srgbClr val="000000"/>
              </a:buClr>
              <a:buSzPts val="3000"/>
            </a:pPr>
            <a:r>
              <a:rPr lang="en-IN" sz="3000" b="1" u="none" strike="noStrike" kern="100" dirty="0">
                <a:solidFill>
                  <a:srgbClr val="000000"/>
                </a:solidFill>
                <a:effectLst/>
                <a:uFill>
                  <a:solidFill>
                    <a:srgbClr val="000000"/>
                  </a:solidFill>
                </a:uFill>
                <a:latin typeface="+mj-lt"/>
                <a:ea typeface="Times New Roman" panose="02020603050405020304" pitchFamily="18" charset="0"/>
                <a:cs typeface="Times New Roman" panose="02020603050405020304" pitchFamily="18" charset="0"/>
              </a:rPr>
              <a:t>4.LEAVE AND ABSENCE PATTERNS</a:t>
            </a:r>
            <a:endParaRPr lang="en-IN" sz="3000" u="none" strike="noStrike" kern="100" dirty="0">
              <a:solidFill>
                <a:srgbClr val="000000"/>
              </a:solidFill>
              <a:effectLst/>
              <a:uFill>
                <a:solidFill>
                  <a:srgbClr val="000000"/>
                </a:solidFill>
              </a:uFill>
              <a:latin typeface="+mj-lt"/>
              <a:ea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5D92C5EA-F397-A112-06E5-9071897D0E3C}"/>
              </a:ext>
            </a:extLst>
          </p:cNvPr>
          <p:cNvSpPr txBox="1"/>
          <p:nvPr/>
        </p:nvSpPr>
        <p:spPr>
          <a:xfrm>
            <a:off x="-108155" y="677734"/>
            <a:ext cx="8934404" cy="2120196"/>
          </a:xfrm>
          <a:prstGeom prst="rect">
            <a:avLst/>
          </a:prstGeom>
          <a:noFill/>
        </p:spPr>
        <p:txBody>
          <a:bodyPr wrap="square">
            <a:spAutoFit/>
          </a:bodyPr>
          <a:lstStyle/>
          <a:p>
            <a:pPr marL="628650" indent="-6350">
              <a:lnSpc>
                <a:spcPct val="110000"/>
              </a:lnSpc>
              <a:spcAft>
                <a:spcPts val="4405"/>
              </a:spcAft>
              <a:buNone/>
            </a:pPr>
            <a:r>
              <a:rPr lang="en-IN" sz="3000" b="1" kern="100" dirty="0">
                <a:solidFill>
                  <a:srgbClr val="000000"/>
                </a:solidFill>
                <a:effectLst/>
                <a:latin typeface="Times New Roman" panose="02020603050405020304" pitchFamily="18" charset="0"/>
                <a:ea typeface="Times New Roman" panose="02020603050405020304" pitchFamily="18" charset="0"/>
              </a:rPr>
              <a:t>Which year had the most employees taking leaves?</a:t>
            </a:r>
          </a:p>
          <a:p>
            <a:pPr marL="628650" indent="-6350">
              <a:lnSpc>
                <a:spcPct val="110000"/>
              </a:lnSpc>
              <a:spcAft>
                <a:spcPts val="4405"/>
              </a:spcAft>
              <a:buNone/>
            </a:pPr>
            <a:r>
              <a:rPr lang="en-IN" sz="2800" b="1" kern="100" dirty="0">
                <a:latin typeface="Times New Roman" panose="02020603050405020304" pitchFamily="18" charset="0"/>
                <a:ea typeface="Calibri" panose="020F0502020204030204" pitchFamily="34" charset="0"/>
              </a:rPr>
              <a:t>Query                                             Output</a:t>
            </a:r>
            <a:endParaRPr lang="en-IN" sz="2800" kern="100" dirty="0">
              <a:solidFill>
                <a:srgbClr val="000000"/>
              </a:solidFill>
              <a:effectLst/>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6336403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3480D0E-BAB9-C211-3E12-29C845A5964B}"/>
              </a:ext>
            </a:extLst>
          </p:cNvPr>
          <p:cNvPicPr>
            <a:picLocks noChangeAspect="1"/>
          </p:cNvPicPr>
          <p:nvPr/>
        </p:nvPicPr>
        <p:blipFill>
          <a:blip r:embed="rId2"/>
          <a:stretch>
            <a:fillRect/>
          </a:stretch>
        </p:blipFill>
        <p:spPr>
          <a:xfrm>
            <a:off x="374823" y="3077497"/>
            <a:ext cx="4629796" cy="2572109"/>
          </a:xfrm>
          <a:prstGeom prst="rect">
            <a:avLst/>
          </a:prstGeom>
        </p:spPr>
      </p:pic>
      <p:pic>
        <p:nvPicPr>
          <p:cNvPr id="5" name="Picture 4">
            <a:extLst>
              <a:ext uri="{FF2B5EF4-FFF2-40B4-BE49-F238E27FC236}">
                <a16:creationId xmlns:a16="http://schemas.microsoft.com/office/drawing/2014/main" id="{D8C0C80B-D814-9BBD-FF8B-2A888E99CCBA}"/>
              </a:ext>
            </a:extLst>
          </p:cNvPr>
          <p:cNvPicPr>
            <a:picLocks noChangeAspect="1"/>
          </p:cNvPicPr>
          <p:nvPr/>
        </p:nvPicPr>
        <p:blipFill>
          <a:blip r:embed="rId3"/>
          <a:stretch>
            <a:fillRect/>
          </a:stretch>
        </p:blipFill>
        <p:spPr>
          <a:xfrm>
            <a:off x="5810864" y="3077497"/>
            <a:ext cx="2048161" cy="2212745"/>
          </a:xfrm>
          <a:prstGeom prst="rect">
            <a:avLst/>
          </a:prstGeom>
        </p:spPr>
      </p:pic>
      <p:sp>
        <p:nvSpPr>
          <p:cNvPr id="7" name="TextBox 6">
            <a:extLst>
              <a:ext uri="{FF2B5EF4-FFF2-40B4-BE49-F238E27FC236}">
                <a16:creationId xmlns:a16="http://schemas.microsoft.com/office/drawing/2014/main" id="{71D3AA9B-FCA0-ADAE-E950-8F5A84B5005C}"/>
              </a:ext>
            </a:extLst>
          </p:cNvPr>
          <p:cNvSpPr txBox="1"/>
          <p:nvPr/>
        </p:nvSpPr>
        <p:spPr>
          <a:xfrm>
            <a:off x="727586" y="4172278"/>
            <a:ext cx="8554066" cy="1477328"/>
          </a:xfrm>
          <a:prstGeom prst="rect">
            <a:avLst/>
          </a:prstGeom>
          <a:noFill/>
        </p:spPr>
        <p:txBody>
          <a:bodyPr wrap="square">
            <a:spAutoFit/>
          </a:bodyPr>
          <a:lstStyle/>
          <a:p>
            <a:endParaRPr lang="en-IN" sz="3000" b="1" dirty="0">
              <a:latin typeface="Times New Roman" panose="02020603050405020304" pitchFamily="18" charset="0"/>
              <a:cs typeface="Times New Roman" panose="02020603050405020304" pitchFamily="18" charset="0"/>
            </a:endParaRPr>
          </a:p>
          <a:p>
            <a:endParaRPr lang="en-IN" sz="3000" b="1" dirty="0">
              <a:latin typeface="Times New Roman" panose="02020603050405020304" pitchFamily="18" charset="0"/>
              <a:cs typeface="Times New Roman" panose="02020603050405020304" pitchFamily="18" charset="0"/>
            </a:endParaRPr>
          </a:p>
          <a:p>
            <a:endParaRPr lang="en-IN" sz="30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063459B8-9E93-4CE1-31E9-E7F4EA244915}"/>
              </a:ext>
            </a:extLst>
          </p:cNvPr>
          <p:cNvPicPr>
            <a:picLocks noChangeAspect="1"/>
          </p:cNvPicPr>
          <p:nvPr/>
        </p:nvPicPr>
        <p:blipFill>
          <a:blip r:embed="rId4"/>
          <a:stretch>
            <a:fillRect/>
          </a:stretch>
        </p:blipFill>
        <p:spPr>
          <a:xfrm>
            <a:off x="8316892" y="550119"/>
            <a:ext cx="3500285" cy="4051378"/>
          </a:xfrm>
          <a:prstGeom prst="rect">
            <a:avLst/>
          </a:prstGeom>
        </p:spPr>
      </p:pic>
      <p:sp>
        <p:nvSpPr>
          <p:cNvPr id="8" name="TextBox 7">
            <a:extLst>
              <a:ext uri="{FF2B5EF4-FFF2-40B4-BE49-F238E27FC236}">
                <a16:creationId xmlns:a16="http://schemas.microsoft.com/office/drawing/2014/main" id="{94295695-B711-B967-ACE9-8F300BE2E243}"/>
              </a:ext>
            </a:extLst>
          </p:cNvPr>
          <p:cNvSpPr txBox="1"/>
          <p:nvPr/>
        </p:nvSpPr>
        <p:spPr>
          <a:xfrm>
            <a:off x="0" y="315788"/>
            <a:ext cx="8219768" cy="2052485"/>
          </a:xfrm>
          <a:prstGeom prst="rect">
            <a:avLst/>
          </a:prstGeom>
          <a:noFill/>
        </p:spPr>
        <p:txBody>
          <a:bodyPr wrap="square">
            <a:spAutoFit/>
          </a:bodyPr>
          <a:lstStyle/>
          <a:p>
            <a:pPr marL="628650" indent="-6350">
              <a:lnSpc>
                <a:spcPct val="110000"/>
              </a:lnSpc>
              <a:spcAft>
                <a:spcPts val="4410"/>
              </a:spcAft>
              <a:buNone/>
            </a:pPr>
            <a:r>
              <a:rPr lang="en-IN" sz="2800" b="1" kern="100" dirty="0">
                <a:solidFill>
                  <a:srgbClr val="000000"/>
                </a:solidFill>
                <a:effectLst/>
                <a:latin typeface="Times New Roman" panose="02020603050405020304" pitchFamily="18" charset="0"/>
                <a:ea typeface="Times New Roman" panose="02020603050405020304" pitchFamily="18" charset="0"/>
              </a:rPr>
              <a:t>What is the average number of leave days taken by its employees per department?</a:t>
            </a:r>
          </a:p>
          <a:p>
            <a:pPr marL="628650" indent="-6350">
              <a:lnSpc>
                <a:spcPct val="110000"/>
              </a:lnSpc>
              <a:spcAft>
                <a:spcPts val="4410"/>
              </a:spcAft>
              <a:buNone/>
            </a:pPr>
            <a:r>
              <a:rPr lang="en-IN" sz="2800" b="1" kern="100" dirty="0">
                <a:latin typeface="Times New Roman" panose="02020603050405020304" pitchFamily="18" charset="0"/>
                <a:ea typeface="Calibri" panose="020F0502020204030204" pitchFamily="34" charset="0"/>
              </a:rPr>
              <a:t>Query                                               Output</a:t>
            </a:r>
            <a:endParaRPr lang="en-IN" sz="2800" kern="100" dirty="0">
              <a:solidFill>
                <a:srgbClr val="000000"/>
              </a:solidFill>
              <a:effectLst/>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8598488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9D057D3-559E-9839-A69C-9D773598E019}"/>
              </a:ext>
            </a:extLst>
          </p:cNvPr>
          <p:cNvPicPr>
            <a:picLocks noChangeAspect="1"/>
          </p:cNvPicPr>
          <p:nvPr/>
        </p:nvPicPr>
        <p:blipFill>
          <a:blip r:embed="rId2"/>
          <a:stretch>
            <a:fillRect/>
          </a:stretch>
        </p:blipFill>
        <p:spPr>
          <a:xfrm>
            <a:off x="5128950" y="2669688"/>
            <a:ext cx="2629267" cy="2834640"/>
          </a:xfrm>
          <a:prstGeom prst="rect">
            <a:avLst/>
          </a:prstGeom>
        </p:spPr>
      </p:pic>
      <p:pic>
        <p:nvPicPr>
          <p:cNvPr id="9" name="Picture 8">
            <a:extLst>
              <a:ext uri="{FF2B5EF4-FFF2-40B4-BE49-F238E27FC236}">
                <a16:creationId xmlns:a16="http://schemas.microsoft.com/office/drawing/2014/main" id="{E27A9D6E-8BCB-1405-1594-9C15EBAA13DF}"/>
              </a:ext>
            </a:extLst>
          </p:cNvPr>
          <p:cNvPicPr>
            <a:picLocks noChangeAspect="1"/>
          </p:cNvPicPr>
          <p:nvPr/>
        </p:nvPicPr>
        <p:blipFill>
          <a:blip r:embed="rId3"/>
          <a:stretch>
            <a:fillRect/>
          </a:stretch>
        </p:blipFill>
        <p:spPr>
          <a:xfrm>
            <a:off x="273336" y="2669688"/>
            <a:ext cx="3717822" cy="2727960"/>
          </a:xfrm>
          <a:prstGeom prst="rect">
            <a:avLst/>
          </a:prstGeom>
        </p:spPr>
      </p:pic>
      <p:pic>
        <p:nvPicPr>
          <p:cNvPr id="5" name="Picture 4">
            <a:extLst>
              <a:ext uri="{FF2B5EF4-FFF2-40B4-BE49-F238E27FC236}">
                <a16:creationId xmlns:a16="http://schemas.microsoft.com/office/drawing/2014/main" id="{2CA14F91-5D33-C347-8213-43489F0DE21F}"/>
              </a:ext>
            </a:extLst>
          </p:cNvPr>
          <p:cNvPicPr>
            <a:picLocks noChangeAspect="1"/>
          </p:cNvPicPr>
          <p:nvPr/>
        </p:nvPicPr>
        <p:blipFill>
          <a:blip r:embed="rId4"/>
          <a:stretch>
            <a:fillRect/>
          </a:stretch>
        </p:blipFill>
        <p:spPr>
          <a:xfrm>
            <a:off x="8601041" y="1582501"/>
            <a:ext cx="2629267" cy="2979174"/>
          </a:xfrm>
          <a:prstGeom prst="rect">
            <a:avLst/>
          </a:prstGeom>
        </p:spPr>
      </p:pic>
      <p:sp>
        <p:nvSpPr>
          <p:cNvPr id="3" name="TextBox 2">
            <a:extLst>
              <a:ext uri="{FF2B5EF4-FFF2-40B4-BE49-F238E27FC236}">
                <a16:creationId xmlns:a16="http://schemas.microsoft.com/office/drawing/2014/main" id="{91EE8F53-C7B6-5FE6-79F3-CDD51DD2A6F6}"/>
              </a:ext>
            </a:extLst>
          </p:cNvPr>
          <p:cNvSpPr txBox="1"/>
          <p:nvPr/>
        </p:nvSpPr>
        <p:spPr>
          <a:xfrm>
            <a:off x="-1" y="191334"/>
            <a:ext cx="8896009" cy="1908215"/>
          </a:xfrm>
          <a:prstGeom prst="rect">
            <a:avLst/>
          </a:prstGeom>
          <a:noFill/>
        </p:spPr>
        <p:txBody>
          <a:bodyPr wrap="square">
            <a:spAutoFit/>
          </a:bodyPr>
          <a:lstStyle/>
          <a:p>
            <a:r>
              <a:rPr lang="en-IN" sz="3000" b="1" dirty="0">
                <a:latin typeface="Times New Roman" panose="02020603050405020304" pitchFamily="18" charset="0"/>
                <a:cs typeface="Times New Roman" panose="02020603050405020304" pitchFamily="18" charset="0"/>
              </a:rPr>
              <a:t>Which employees have taken the most leaves?</a:t>
            </a:r>
          </a:p>
          <a:p>
            <a:endParaRPr lang="en-IN" sz="3000" b="1" dirty="0">
              <a:latin typeface="Times New Roman" panose="02020603050405020304" pitchFamily="18" charset="0"/>
              <a:cs typeface="Times New Roman" panose="02020603050405020304" pitchFamily="18" charset="0"/>
            </a:endParaRPr>
          </a:p>
          <a:p>
            <a:endParaRPr lang="en-IN" sz="3000" b="1" dirty="0">
              <a:latin typeface="Times New Roman" panose="02020603050405020304" pitchFamily="18" charset="0"/>
              <a:cs typeface="Times New Roman" panose="02020603050405020304" pitchFamily="18" charset="0"/>
            </a:endParaRPr>
          </a:p>
          <a:p>
            <a:r>
              <a:rPr lang="en-IN" sz="2800" b="1" dirty="0">
                <a:latin typeface="Times New Roman" panose="02020603050405020304" pitchFamily="18" charset="0"/>
                <a:cs typeface="Times New Roman" panose="02020603050405020304" pitchFamily="18" charset="0"/>
              </a:rPr>
              <a:t>Query                                             Output </a:t>
            </a:r>
          </a:p>
        </p:txBody>
      </p:sp>
    </p:spTree>
    <p:extLst>
      <p:ext uri="{BB962C8B-B14F-4D97-AF65-F5344CB8AC3E}">
        <p14:creationId xmlns:p14="http://schemas.microsoft.com/office/powerpoint/2010/main" val="38622018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4F5F45B-E90A-CA8E-3D1D-0D662311F30B}"/>
              </a:ext>
            </a:extLst>
          </p:cNvPr>
          <p:cNvPicPr>
            <a:picLocks noChangeAspect="1"/>
          </p:cNvPicPr>
          <p:nvPr/>
        </p:nvPicPr>
        <p:blipFill>
          <a:blip r:embed="rId2"/>
          <a:stretch>
            <a:fillRect/>
          </a:stretch>
        </p:blipFill>
        <p:spPr>
          <a:xfrm>
            <a:off x="469276" y="3106752"/>
            <a:ext cx="3743847" cy="1447799"/>
          </a:xfrm>
          <a:prstGeom prst="rect">
            <a:avLst/>
          </a:prstGeom>
        </p:spPr>
      </p:pic>
      <p:pic>
        <p:nvPicPr>
          <p:cNvPr id="7" name="Picture 6">
            <a:extLst>
              <a:ext uri="{FF2B5EF4-FFF2-40B4-BE49-F238E27FC236}">
                <a16:creationId xmlns:a16="http://schemas.microsoft.com/office/drawing/2014/main" id="{A69095A8-3733-6412-03A9-E9E08F1E51EF}"/>
              </a:ext>
            </a:extLst>
          </p:cNvPr>
          <p:cNvPicPr>
            <a:picLocks noChangeAspect="1"/>
          </p:cNvPicPr>
          <p:nvPr/>
        </p:nvPicPr>
        <p:blipFill>
          <a:blip r:embed="rId3"/>
          <a:stretch>
            <a:fillRect/>
          </a:stretch>
        </p:blipFill>
        <p:spPr>
          <a:xfrm>
            <a:off x="5394960" y="3481258"/>
            <a:ext cx="2667000" cy="995406"/>
          </a:xfrm>
          <a:prstGeom prst="rect">
            <a:avLst/>
          </a:prstGeom>
        </p:spPr>
      </p:pic>
      <p:pic>
        <p:nvPicPr>
          <p:cNvPr id="4" name="Picture 3">
            <a:extLst>
              <a:ext uri="{FF2B5EF4-FFF2-40B4-BE49-F238E27FC236}">
                <a16:creationId xmlns:a16="http://schemas.microsoft.com/office/drawing/2014/main" id="{5BE949D7-A203-2FAE-435F-0B1E9C4CC723}"/>
              </a:ext>
            </a:extLst>
          </p:cNvPr>
          <p:cNvPicPr>
            <a:picLocks noChangeAspect="1"/>
          </p:cNvPicPr>
          <p:nvPr/>
        </p:nvPicPr>
        <p:blipFill>
          <a:blip r:embed="rId4"/>
          <a:stretch>
            <a:fillRect/>
          </a:stretch>
        </p:blipFill>
        <p:spPr>
          <a:xfrm>
            <a:off x="8214928" y="304800"/>
            <a:ext cx="3977072" cy="4739148"/>
          </a:xfrm>
          <a:prstGeom prst="rect">
            <a:avLst/>
          </a:prstGeom>
        </p:spPr>
      </p:pic>
      <p:sp>
        <p:nvSpPr>
          <p:cNvPr id="5" name="TextBox 4">
            <a:extLst>
              <a:ext uri="{FF2B5EF4-FFF2-40B4-BE49-F238E27FC236}">
                <a16:creationId xmlns:a16="http://schemas.microsoft.com/office/drawing/2014/main" id="{86CD482C-E325-3A64-83B1-5C22B8D3D320}"/>
              </a:ext>
            </a:extLst>
          </p:cNvPr>
          <p:cNvSpPr txBox="1"/>
          <p:nvPr/>
        </p:nvSpPr>
        <p:spPr>
          <a:xfrm>
            <a:off x="1" y="304800"/>
            <a:ext cx="8426244" cy="2312556"/>
          </a:xfrm>
          <a:prstGeom prst="rect">
            <a:avLst/>
          </a:prstGeom>
          <a:noFill/>
        </p:spPr>
        <p:txBody>
          <a:bodyPr wrap="square">
            <a:spAutoFit/>
          </a:bodyPr>
          <a:lstStyle/>
          <a:p>
            <a:pPr marL="628650" indent="-6350">
              <a:lnSpc>
                <a:spcPct val="110000"/>
              </a:lnSpc>
              <a:spcAft>
                <a:spcPts val="5925"/>
              </a:spcAft>
              <a:buNone/>
            </a:pPr>
            <a:r>
              <a:rPr lang="en-IN" sz="3000" b="1" kern="100" dirty="0">
                <a:solidFill>
                  <a:srgbClr val="000000"/>
                </a:solidFill>
                <a:effectLst/>
                <a:latin typeface="Times New Roman" panose="02020603050405020304" pitchFamily="18" charset="0"/>
                <a:ea typeface="Times New Roman" panose="02020603050405020304" pitchFamily="18" charset="0"/>
              </a:rPr>
              <a:t>What is the total number of leave days taken company-wide?</a:t>
            </a:r>
          </a:p>
          <a:p>
            <a:pPr marL="628650" indent="-6350">
              <a:lnSpc>
                <a:spcPct val="110000"/>
              </a:lnSpc>
              <a:spcAft>
                <a:spcPts val="5925"/>
              </a:spcAft>
              <a:buNone/>
            </a:pPr>
            <a:r>
              <a:rPr lang="en-IN" sz="2800" b="1" kern="100" dirty="0">
                <a:latin typeface="Times New Roman" panose="02020603050405020304" pitchFamily="18" charset="0"/>
                <a:ea typeface="Calibri" panose="020F0502020204030204" pitchFamily="34" charset="0"/>
              </a:rPr>
              <a:t>Query                                             Output</a:t>
            </a:r>
            <a:endParaRPr lang="en-IN" sz="2800" kern="100" dirty="0">
              <a:solidFill>
                <a:srgbClr val="000000"/>
              </a:solidFill>
              <a:effectLst/>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16160384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F751C32-C307-CA04-8B67-84F9160D0E60}"/>
              </a:ext>
            </a:extLst>
          </p:cNvPr>
          <p:cNvPicPr>
            <a:picLocks noChangeAspect="1"/>
          </p:cNvPicPr>
          <p:nvPr/>
        </p:nvPicPr>
        <p:blipFill>
          <a:blip r:embed="rId2"/>
          <a:stretch>
            <a:fillRect/>
          </a:stretch>
        </p:blipFill>
        <p:spPr>
          <a:xfrm>
            <a:off x="452605" y="2224019"/>
            <a:ext cx="4296375" cy="2059397"/>
          </a:xfrm>
          <a:prstGeom prst="rect">
            <a:avLst/>
          </a:prstGeom>
        </p:spPr>
      </p:pic>
      <p:pic>
        <p:nvPicPr>
          <p:cNvPr id="5" name="Picture 4">
            <a:extLst>
              <a:ext uri="{FF2B5EF4-FFF2-40B4-BE49-F238E27FC236}">
                <a16:creationId xmlns:a16="http://schemas.microsoft.com/office/drawing/2014/main" id="{D4507F10-7BBF-F134-F9FE-C51B251B4C91}"/>
              </a:ext>
            </a:extLst>
          </p:cNvPr>
          <p:cNvPicPr>
            <a:picLocks noChangeAspect="1"/>
          </p:cNvPicPr>
          <p:nvPr/>
        </p:nvPicPr>
        <p:blipFill>
          <a:blip r:embed="rId3"/>
          <a:stretch>
            <a:fillRect/>
          </a:stretch>
        </p:blipFill>
        <p:spPr>
          <a:xfrm>
            <a:off x="9019689" y="2921463"/>
            <a:ext cx="2600688" cy="2912837"/>
          </a:xfrm>
          <a:prstGeom prst="rect">
            <a:avLst/>
          </a:prstGeom>
        </p:spPr>
      </p:pic>
      <p:pic>
        <p:nvPicPr>
          <p:cNvPr id="4" name="Picture 3">
            <a:extLst>
              <a:ext uri="{FF2B5EF4-FFF2-40B4-BE49-F238E27FC236}">
                <a16:creationId xmlns:a16="http://schemas.microsoft.com/office/drawing/2014/main" id="{BD72C8D2-8DAF-4F64-3ACD-A82F5A08C335}"/>
              </a:ext>
            </a:extLst>
          </p:cNvPr>
          <p:cNvPicPr>
            <a:picLocks noChangeAspect="1"/>
          </p:cNvPicPr>
          <p:nvPr/>
        </p:nvPicPr>
        <p:blipFill>
          <a:blip r:embed="rId4"/>
          <a:stretch>
            <a:fillRect/>
          </a:stretch>
        </p:blipFill>
        <p:spPr>
          <a:xfrm>
            <a:off x="5413333" y="1779703"/>
            <a:ext cx="2942003" cy="3298593"/>
          </a:xfrm>
          <a:prstGeom prst="rect">
            <a:avLst/>
          </a:prstGeom>
        </p:spPr>
      </p:pic>
      <p:sp>
        <p:nvSpPr>
          <p:cNvPr id="6" name="TextBox 5">
            <a:extLst>
              <a:ext uri="{FF2B5EF4-FFF2-40B4-BE49-F238E27FC236}">
                <a16:creationId xmlns:a16="http://schemas.microsoft.com/office/drawing/2014/main" id="{79D48243-84AD-BFEA-59FE-97E5D52DAA3F}"/>
              </a:ext>
            </a:extLst>
          </p:cNvPr>
          <p:cNvSpPr txBox="1"/>
          <p:nvPr/>
        </p:nvSpPr>
        <p:spPr>
          <a:xfrm>
            <a:off x="235974" y="255793"/>
            <a:ext cx="9301316" cy="1822037"/>
          </a:xfrm>
          <a:prstGeom prst="rect">
            <a:avLst/>
          </a:prstGeom>
          <a:noFill/>
        </p:spPr>
        <p:txBody>
          <a:bodyPr wrap="square">
            <a:spAutoFit/>
          </a:bodyPr>
          <a:lstStyle/>
          <a:p>
            <a:pPr marL="733425" indent="-6350">
              <a:lnSpc>
                <a:spcPct val="110000"/>
              </a:lnSpc>
              <a:spcAft>
                <a:spcPts val="6080"/>
              </a:spcAft>
              <a:buNone/>
            </a:pPr>
            <a:r>
              <a:rPr lang="en-IN" sz="3000" b="1" kern="100" dirty="0">
                <a:solidFill>
                  <a:srgbClr val="000000"/>
                </a:solidFill>
                <a:effectLst/>
                <a:latin typeface="Times New Roman" panose="02020603050405020304" pitchFamily="18" charset="0"/>
                <a:ea typeface="Times New Roman" panose="02020603050405020304" pitchFamily="18" charset="0"/>
              </a:rPr>
              <a:t>How do leave days correlate with payroll amounts?</a:t>
            </a:r>
          </a:p>
          <a:p>
            <a:pPr marL="733425" indent="-6350">
              <a:lnSpc>
                <a:spcPct val="110000"/>
              </a:lnSpc>
              <a:spcAft>
                <a:spcPts val="6080"/>
              </a:spcAft>
              <a:buNone/>
            </a:pPr>
            <a:r>
              <a:rPr lang="en-IN" sz="2800" b="1" kern="100" dirty="0">
                <a:latin typeface="Times New Roman" panose="02020603050405020304" pitchFamily="18" charset="0"/>
                <a:ea typeface="Calibri" panose="020F0502020204030204" pitchFamily="34" charset="0"/>
              </a:rPr>
              <a:t>Query</a:t>
            </a:r>
            <a:endParaRPr lang="en-IN" sz="1400" kern="100" dirty="0">
              <a:solidFill>
                <a:srgbClr val="000000"/>
              </a:solidFill>
              <a:effectLst/>
              <a:latin typeface="Calibri" panose="020F0502020204030204" pitchFamily="34" charset="0"/>
              <a:ea typeface="Calibri" panose="020F0502020204030204" pitchFamily="34" charset="0"/>
            </a:endParaRPr>
          </a:p>
        </p:txBody>
      </p:sp>
      <p:sp>
        <p:nvSpPr>
          <p:cNvPr id="10" name="TextBox 9">
            <a:extLst>
              <a:ext uri="{FF2B5EF4-FFF2-40B4-BE49-F238E27FC236}">
                <a16:creationId xmlns:a16="http://schemas.microsoft.com/office/drawing/2014/main" id="{7EF47792-3C83-2976-9567-E9B68983AF16}"/>
              </a:ext>
            </a:extLst>
          </p:cNvPr>
          <p:cNvSpPr txBox="1"/>
          <p:nvPr/>
        </p:nvSpPr>
        <p:spPr>
          <a:xfrm>
            <a:off x="9399639" y="1843147"/>
            <a:ext cx="6096000" cy="523220"/>
          </a:xfrm>
          <a:prstGeom prst="rect">
            <a:avLst/>
          </a:prstGeom>
          <a:noFill/>
        </p:spPr>
        <p:txBody>
          <a:bodyPr wrap="square">
            <a:spAutoFit/>
          </a:bodyPr>
          <a:lstStyle/>
          <a:p>
            <a:r>
              <a:rPr lang="en-IN" sz="2800" b="1" kern="100" dirty="0">
                <a:latin typeface="Times New Roman" panose="02020603050405020304" pitchFamily="18" charset="0"/>
                <a:ea typeface="Calibri" panose="020F0502020204030204" pitchFamily="34" charset="0"/>
              </a:rPr>
              <a:t>Output</a:t>
            </a:r>
            <a:endParaRPr lang="en-IN" sz="2800" dirty="0"/>
          </a:p>
        </p:txBody>
      </p:sp>
    </p:spTree>
    <p:extLst>
      <p:ext uri="{BB962C8B-B14F-4D97-AF65-F5344CB8AC3E}">
        <p14:creationId xmlns:p14="http://schemas.microsoft.com/office/powerpoint/2010/main" val="10766878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1261EDE-1F2F-84F6-3BE5-B18B8E464602}"/>
              </a:ext>
            </a:extLst>
          </p:cNvPr>
          <p:cNvPicPr>
            <a:picLocks noChangeAspect="1"/>
          </p:cNvPicPr>
          <p:nvPr/>
        </p:nvPicPr>
        <p:blipFill>
          <a:blip r:embed="rId2"/>
          <a:stretch>
            <a:fillRect/>
          </a:stretch>
        </p:blipFill>
        <p:spPr>
          <a:xfrm>
            <a:off x="590253" y="2739151"/>
            <a:ext cx="3705742" cy="2118360"/>
          </a:xfrm>
          <a:prstGeom prst="rect">
            <a:avLst/>
          </a:prstGeom>
        </p:spPr>
      </p:pic>
      <p:pic>
        <p:nvPicPr>
          <p:cNvPr id="5" name="Picture 4">
            <a:extLst>
              <a:ext uri="{FF2B5EF4-FFF2-40B4-BE49-F238E27FC236}">
                <a16:creationId xmlns:a16="http://schemas.microsoft.com/office/drawing/2014/main" id="{E7319A3F-DBCF-1907-DF22-E4EB3EF2BF7C}"/>
              </a:ext>
            </a:extLst>
          </p:cNvPr>
          <p:cNvPicPr>
            <a:picLocks noChangeAspect="1"/>
          </p:cNvPicPr>
          <p:nvPr/>
        </p:nvPicPr>
        <p:blipFill>
          <a:blip r:embed="rId3"/>
          <a:stretch>
            <a:fillRect/>
          </a:stretch>
        </p:blipFill>
        <p:spPr>
          <a:xfrm>
            <a:off x="9252886" y="4019218"/>
            <a:ext cx="2048161" cy="838232"/>
          </a:xfrm>
          <a:prstGeom prst="rect">
            <a:avLst/>
          </a:prstGeom>
        </p:spPr>
      </p:pic>
      <p:pic>
        <p:nvPicPr>
          <p:cNvPr id="4" name="Picture 3">
            <a:extLst>
              <a:ext uri="{FF2B5EF4-FFF2-40B4-BE49-F238E27FC236}">
                <a16:creationId xmlns:a16="http://schemas.microsoft.com/office/drawing/2014/main" id="{D7FC2688-4D88-98DC-54E8-8CFA5D5DF804}"/>
              </a:ext>
            </a:extLst>
          </p:cNvPr>
          <p:cNvPicPr>
            <a:picLocks noChangeAspect="1"/>
          </p:cNvPicPr>
          <p:nvPr/>
        </p:nvPicPr>
        <p:blipFill>
          <a:blip r:embed="rId4"/>
          <a:stretch>
            <a:fillRect/>
          </a:stretch>
        </p:blipFill>
        <p:spPr>
          <a:xfrm>
            <a:off x="5125308" y="1515149"/>
            <a:ext cx="3431930" cy="4503813"/>
          </a:xfrm>
          <a:prstGeom prst="rect">
            <a:avLst/>
          </a:prstGeom>
        </p:spPr>
      </p:pic>
      <p:sp>
        <p:nvSpPr>
          <p:cNvPr id="6" name="TextBox 5">
            <a:extLst>
              <a:ext uri="{FF2B5EF4-FFF2-40B4-BE49-F238E27FC236}">
                <a16:creationId xmlns:a16="http://schemas.microsoft.com/office/drawing/2014/main" id="{A751D195-EF78-40A2-94DD-85E458C7676E}"/>
              </a:ext>
            </a:extLst>
          </p:cNvPr>
          <p:cNvSpPr txBox="1"/>
          <p:nvPr/>
        </p:nvSpPr>
        <p:spPr>
          <a:xfrm>
            <a:off x="0" y="213360"/>
            <a:ext cx="10572055" cy="563359"/>
          </a:xfrm>
          <a:prstGeom prst="rect">
            <a:avLst/>
          </a:prstGeom>
          <a:noFill/>
        </p:spPr>
        <p:txBody>
          <a:bodyPr wrap="square">
            <a:spAutoFit/>
          </a:bodyPr>
          <a:lstStyle/>
          <a:p>
            <a:pPr marL="628650" indent="-6350">
              <a:lnSpc>
                <a:spcPct val="110000"/>
              </a:lnSpc>
              <a:spcAft>
                <a:spcPts val="6080"/>
              </a:spcAft>
              <a:buNone/>
            </a:pPr>
            <a:r>
              <a:rPr lang="en-US" sz="3000" b="1" kern="100" dirty="0">
                <a:latin typeface="Times New Roman" panose="02020603050405020304" pitchFamily="18" charset="0"/>
                <a:ea typeface="Times New Roman" panose="02020603050405020304" pitchFamily="18" charset="0"/>
              </a:rPr>
              <a:t>5. PAYROLL AND COMPENSATION ANALYSIS</a:t>
            </a:r>
          </a:p>
        </p:txBody>
      </p:sp>
      <p:sp>
        <p:nvSpPr>
          <p:cNvPr id="9" name="TextBox 8">
            <a:extLst>
              <a:ext uri="{FF2B5EF4-FFF2-40B4-BE49-F238E27FC236}">
                <a16:creationId xmlns:a16="http://schemas.microsoft.com/office/drawing/2014/main" id="{10C03611-7C80-C7F8-EBA7-592F16005158}"/>
              </a:ext>
            </a:extLst>
          </p:cNvPr>
          <p:cNvSpPr txBox="1"/>
          <p:nvPr/>
        </p:nvSpPr>
        <p:spPr>
          <a:xfrm>
            <a:off x="391886" y="724764"/>
            <a:ext cx="9093757" cy="1788182"/>
          </a:xfrm>
          <a:prstGeom prst="rect">
            <a:avLst/>
          </a:prstGeom>
          <a:noFill/>
        </p:spPr>
        <p:txBody>
          <a:bodyPr wrap="square">
            <a:spAutoFit/>
          </a:bodyPr>
          <a:lstStyle/>
          <a:p>
            <a:pPr marL="628650" indent="-6350">
              <a:lnSpc>
                <a:spcPct val="110000"/>
              </a:lnSpc>
              <a:spcAft>
                <a:spcPts val="6080"/>
              </a:spcAft>
              <a:buNone/>
            </a:pPr>
            <a:r>
              <a:rPr lang="en-US" sz="2800" b="1" kern="100" dirty="0">
                <a:latin typeface="Times New Roman" panose="02020603050405020304" pitchFamily="18" charset="0"/>
                <a:ea typeface="Times New Roman" panose="02020603050405020304" pitchFamily="18" charset="0"/>
              </a:rPr>
              <a:t> What is the total monthly payroll processed?</a:t>
            </a:r>
          </a:p>
          <a:p>
            <a:pPr marL="628650" indent="-6350">
              <a:lnSpc>
                <a:spcPct val="110000"/>
              </a:lnSpc>
              <a:spcAft>
                <a:spcPts val="6080"/>
              </a:spcAft>
              <a:buNone/>
            </a:pPr>
            <a:r>
              <a:rPr lang="en-US" sz="2800" b="1" kern="100" dirty="0">
                <a:solidFill>
                  <a:srgbClr val="000000"/>
                </a:solidFill>
                <a:effectLst/>
                <a:latin typeface="Times New Roman" panose="02020603050405020304" pitchFamily="18" charset="0"/>
                <a:ea typeface="Times New Roman" panose="02020603050405020304" pitchFamily="18" charset="0"/>
              </a:rPr>
              <a:t>Query</a:t>
            </a:r>
            <a:endParaRPr lang="en-IN" sz="1400" b="1" kern="100" dirty="0">
              <a:solidFill>
                <a:srgbClr val="000000"/>
              </a:solidFill>
              <a:effectLst/>
              <a:latin typeface="Times New Roman" panose="02020603050405020304" pitchFamily="18" charset="0"/>
              <a:ea typeface="Times New Roman" panose="02020603050405020304" pitchFamily="18" charset="0"/>
            </a:endParaRPr>
          </a:p>
        </p:txBody>
      </p:sp>
      <p:sp>
        <p:nvSpPr>
          <p:cNvPr id="11" name="TextBox 10">
            <a:extLst>
              <a:ext uri="{FF2B5EF4-FFF2-40B4-BE49-F238E27FC236}">
                <a16:creationId xmlns:a16="http://schemas.microsoft.com/office/drawing/2014/main" id="{AAD3CE3D-05A5-CFAC-BFCC-B8185EDA613C}"/>
              </a:ext>
            </a:extLst>
          </p:cNvPr>
          <p:cNvSpPr txBox="1"/>
          <p:nvPr/>
        </p:nvSpPr>
        <p:spPr>
          <a:xfrm>
            <a:off x="9386551" y="3275111"/>
            <a:ext cx="6094324" cy="523220"/>
          </a:xfrm>
          <a:prstGeom prst="rect">
            <a:avLst/>
          </a:prstGeom>
          <a:noFill/>
        </p:spPr>
        <p:txBody>
          <a:bodyPr wrap="square">
            <a:spAutoFit/>
          </a:bodyPr>
          <a:lstStyle/>
          <a:p>
            <a:r>
              <a:rPr lang="en-US" sz="2800" b="1" kern="100" dirty="0">
                <a:solidFill>
                  <a:srgbClr val="000000"/>
                </a:solidFill>
                <a:effectLst/>
                <a:latin typeface="Times New Roman" panose="02020603050405020304" pitchFamily="18" charset="0"/>
                <a:ea typeface="Times New Roman" panose="02020603050405020304" pitchFamily="18" charset="0"/>
              </a:rPr>
              <a:t>Output</a:t>
            </a:r>
            <a:endParaRPr lang="en-IN" sz="2800" dirty="0"/>
          </a:p>
        </p:txBody>
      </p:sp>
    </p:spTree>
    <p:extLst>
      <p:ext uri="{BB962C8B-B14F-4D97-AF65-F5344CB8AC3E}">
        <p14:creationId xmlns:p14="http://schemas.microsoft.com/office/powerpoint/2010/main" val="19453063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945CC23-749B-C669-BE05-790197F29F0F}"/>
              </a:ext>
            </a:extLst>
          </p:cNvPr>
          <p:cNvPicPr>
            <a:picLocks noChangeAspect="1"/>
          </p:cNvPicPr>
          <p:nvPr/>
        </p:nvPicPr>
        <p:blipFill>
          <a:blip r:embed="rId2"/>
          <a:stretch>
            <a:fillRect/>
          </a:stretch>
        </p:blipFill>
        <p:spPr>
          <a:xfrm>
            <a:off x="73047" y="2438260"/>
            <a:ext cx="3858163" cy="1981477"/>
          </a:xfrm>
          <a:prstGeom prst="rect">
            <a:avLst/>
          </a:prstGeom>
        </p:spPr>
      </p:pic>
      <p:pic>
        <p:nvPicPr>
          <p:cNvPr id="5" name="Picture 4">
            <a:extLst>
              <a:ext uri="{FF2B5EF4-FFF2-40B4-BE49-F238E27FC236}">
                <a16:creationId xmlns:a16="http://schemas.microsoft.com/office/drawing/2014/main" id="{3A003434-A024-C1C4-7730-65EF12BDB5B8}"/>
              </a:ext>
            </a:extLst>
          </p:cNvPr>
          <p:cNvPicPr>
            <a:picLocks noChangeAspect="1"/>
          </p:cNvPicPr>
          <p:nvPr/>
        </p:nvPicPr>
        <p:blipFill>
          <a:blip r:embed="rId3"/>
          <a:stretch>
            <a:fillRect/>
          </a:stretch>
        </p:blipFill>
        <p:spPr>
          <a:xfrm>
            <a:off x="5100498" y="2438260"/>
            <a:ext cx="1991003" cy="2499499"/>
          </a:xfrm>
          <a:prstGeom prst="rect">
            <a:avLst/>
          </a:prstGeom>
        </p:spPr>
      </p:pic>
      <p:pic>
        <p:nvPicPr>
          <p:cNvPr id="4" name="Picture 3">
            <a:extLst>
              <a:ext uri="{FF2B5EF4-FFF2-40B4-BE49-F238E27FC236}">
                <a16:creationId xmlns:a16="http://schemas.microsoft.com/office/drawing/2014/main" id="{DD83E665-60EC-5E5E-5548-CD580DE5120B}"/>
              </a:ext>
            </a:extLst>
          </p:cNvPr>
          <p:cNvPicPr>
            <a:picLocks noChangeAspect="1"/>
          </p:cNvPicPr>
          <p:nvPr/>
        </p:nvPicPr>
        <p:blipFill>
          <a:blip r:embed="rId4"/>
          <a:stretch>
            <a:fillRect/>
          </a:stretch>
        </p:blipFill>
        <p:spPr>
          <a:xfrm>
            <a:off x="8027645" y="572756"/>
            <a:ext cx="3858163" cy="4757630"/>
          </a:xfrm>
          <a:prstGeom prst="rect">
            <a:avLst/>
          </a:prstGeom>
        </p:spPr>
      </p:pic>
      <p:sp>
        <p:nvSpPr>
          <p:cNvPr id="6" name="TextBox 5">
            <a:extLst>
              <a:ext uri="{FF2B5EF4-FFF2-40B4-BE49-F238E27FC236}">
                <a16:creationId xmlns:a16="http://schemas.microsoft.com/office/drawing/2014/main" id="{CC2836F9-9319-88FC-5794-6F1A64F5C3CD}"/>
              </a:ext>
            </a:extLst>
          </p:cNvPr>
          <p:cNvSpPr txBox="1"/>
          <p:nvPr/>
        </p:nvSpPr>
        <p:spPr>
          <a:xfrm>
            <a:off x="170821" y="296672"/>
            <a:ext cx="9284677" cy="1415772"/>
          </a:xfrm>
          <a:prstGeom prst="rect">
            <a:avLst/>
          </a:prstGeom>
          <a:noFill/>
        </p:spPr>
        <p:txBody>
          <a:bodyPr wrap="square">
            <a:spAutoFit/>
          </a:bodyPr>
          <a:lstStyle/>
          <a:p>
            <a:r>
              <a:rPr lang="en-IN" sz="3000" b="1" dirty="0">
                <a:latin typeface="Times New Roman" panose="02020603050405020304" pitchFamily="18" charset="0"/>
                <a:cs typeface="Times New Roman" panose="02020603050405020304" pitchFamily="18" charset="0"/>
              </a:rPr>
              <a:t>What is the average bonus given per department?</a:t>
            </a:r>
          </a:p>
          <a:p>
            <a:endParaRPr lang="en-IN" sz="1400" b="1" dirty="0">
              <a:latin typeface="Times New Roman" panose="02020603050405020304" pitchFamily="18" charset="0"/>
              <a:cs typeface="Times New Roman" panose="02020603050405020304" pitchFamily="18" charset="0"/>
            </a:endParaRPr>
          </a:p>
          <a:p>
            <a:endParaRPr lang="en-IN" sz="1400" b="1" dirty="0">
              <a:latin typeface="Times New Roman" panose="02020603050405020304" pitchFamily="18" charset="0"/>
              <a:cs typeface="Times New Roman" panose="02020603050405020304" pitchFamily="18" charset="0"/>
            </a:endParaRPr>
          </a:p>
          <a:p>
            <a:r>
              <a:rPr lang="en-IN" sz="2800" b="1" dirty="0">
                <a:latin typeface="Times New Roman" panose="02020603050405020304" pitchFamily="18" charset="0"/>
                <a:cs typeface="Times New Roman" panose="02020603050405020304" pitchFamily="18" charset="0"/>
              </a:rPr>
              <a:t>Query                                            Output</a:t>
            </a:r>
          </a:p>
        </p:txBody>
      </p:sp>
    </p:spTree>
    <p:extLst>
      <p:ext uri="{BB962C8B-B14F-4D97-AF65-F5344CB8AC3E}">
        <p14:creationId xmlns:p14="http://schemas.microsoft.com/office/powerpoint/2010/main" val="5291681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4588283-8554-3527-78B4-B23412637BDB}"/>
              </a:ext>
            </a:extLst>
          </p:cNvPr>
          <p:cNvPicPr>
            <a:picLocks noChangeAspect="1"/>
          </p:cNvPicPr>
          <p:nvPr/>
        </p:nvPicPr>
        <p:blipFill>
          <a:blip r:embed="rId2"/>
          <a:stretch>
            <a:fillRect/>
          </a:stretch>
        </p:blipFill>
        <p:spPr>
          <a:xfrm>
            <a:off x="69740" y="2190222"/>
            <a:ext cx="3934374" cy="2849880"/>
          </a:xfrm>
          <a:prstGeom prst="rect">
            <a:avLst/>
          </a:prstGeom>
        </p:spPr>
      </p:pic>
      <p:pic>
        <p:nvPicPr>
          <p:cNvPr id="5" name="Picture 4">
            <a:extLst>
              <a:ext uri="{FF2B5EF4-FFF2-40B4-BE49-F238E27FC236}">
                <a16:creationId xmlns:a16="http://schemas.microsoft.com/office/drawing/2014/main" id="{F72A9D16-BFFD-7904-7364-5E41C1ED656A}"/>
              </a:ext>
            </a:extLst>
          </p:cNvPr>
          <p:cNvPicPr>
            <a:picLocks noChangeAspect="1"/>
          </p:cNvPicPr>
          <p:nvPr/>
        </p:nvPicPr>
        <p:blipFill>
          <a:blip r:embed="rId3"/>
          <a:stretch>
            <a:fillRect/>
          </a:stretch>
        </p:blipFill>
        <p:spPr>
          <a:xfrm>
            <a:off x="5086872" y="2728728"/>
            <a:ext cx="2462343" cy="1156382"/>
          </a:xfrm>
          <a:prstGeom prst="rect">
            <a:avLst/>
          </a:prstGeom>
        </p:spPr>
      </p:pic>
      <p:sp>
        <p:nvSpPr>
          <p:cNvPr id="7" name="TextBox 6">
            <a:extLst>
              <a:ext uri="{FF2B5EF4-FFF2-40B4-BE49-F238E27FC236}">
                <a16:creationId xmlns:a16="http://schemas.microsoft.com/office/drawing/2014/main" id="{FDE8D272-B930-8ADC-1679-F3733F45E0D6}"/>
              </a:ext>
            </a:extLst>
          </p:cNvPr>
          <p:cNvSpPr txBox="1"/>
          <p:nvPr/>
        </p:nvSpPr>
        <p:spPr>
          <a:xfrm>
            <a:off x="76200" y="3936504"/>
            <a:ext cx="12039600" cy="1938992"/>
          </a:xfrm>
          <a:prstGeom prst="rect">
            <a:avLst/>
          </a:prstGeom>
          <a:noFill/>
        </p:spPr>
        <p:txBody>
          <a:bodyPr wrap="square">
            <a:spAutoFit/>
          </a:bodyPr>
          <a:lstStyle/>
          <a:p>
            <a:endParaRPr lang="en-IN" sz="3000" b="1" dirty="0">
              <a:latin typeface="Times New Roman" panose="02020603050405020304" pitchFamily="18" charset="0"/>
              <a:cs typeface="Times New Roman" panose="02020603050405020304" pitchFamily="18" charset="0"/>
            </a:endParaRPr>
          </a:p>
          <a:p>
            <a:endParaRPr lang="en-IN" sz="3000" b="1" dirty="0">
              <a:latin typeface="Times New Roman" panose="02020603050405020304" pitchFamily="18" charset="0"/>
              <a:cs typeface="Times New Roman" panose="02020603050405020304" pitchFamily="18" charset="0"/>
            </a:endParaRPr>
          </a:p>
          <a:p>
            <a:endParaRPr lang="en-IN" sz="3000" b="1" dirty="0">
              <a:latin typeface="Times New Roman" panose="02020603050405020304" pitchFamily="18" charset="0"/>
              <a:cs typeface="Times New Roman" panose="02020603050405020304" pitchFamily="18" charset="0"/>
            </a:endParaRPr>
          </a:p>
          <a:p>
            <a:endParaRPr lang="en-IN" sz="30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C62F84B9-8EDF-BA27-B2FD-80E35C89CA44}"/>
              </a:ext>
            </a:extLst>
          </p:cNvPr>
          <p:cNvPicPr>
            <a:picLocks noChangeAspect="1"/>
          </p:cNvPicPr>
          <p:nvPr/>
        </p:nvPicPr>
        <p:blipFill>
          <a:blip r:embed="rId4"/>
          <a:stretch>
            <a:fillRect/>
          </a:stretch>
        </p:blipFill>
        <p:spPr>
          <a:xfrm>
            <a:off x="8037725" y="1560637"/>
            <a:ext cx="3486637" cy="2581635"/>
          </a:xfrm>
          <a:prstGeom prst="rect">
            <a:avLst/>
          </a:prstGeom>
        </p:spPr>
      </p:pic>
      <p:sp>
        <p:nvSpPr>
          <p:cNvPr id="6" name="TextBox 5">
            <a:extLst>
              <a:ext uri="{FF2B5EF4-FFF2-40B4-BE49-F238E27FC236}">
                <a16:creationId xmlns:a16="http://schemas.microsoft.com/office/drawing/2014/main" id="{5D058F22-97DD-DD80-0581-C42B2243DD39}"/>
              </a:ext>
            </a:extLst>
          </p:cNvPr>
          <p:cNvSpPr txBox="1"/>
          <p:nvPr/>
        </p:nvSpPr>
        <p:spPr>
          <a:xfrm>
            <a:off x="0" y="144865"/>
            <a:ext cx="9537290" cy="1415772"/>
          </a:xfrm>
          <a:prstGeom prst="rect">
            <a:avLst/>
          </a:prstGeom>
          <a:noFill/>
        </p:spPr>
        <p:txBody>
          <a:bodyPr wrap="square">
            <a:spAutoFit/>
          </a:bodyPr>
          <a:lstStyle/>
          <a:p>
            <a:r>
              <a:rPr lang="en-IN" sz="3000" b="1" dirty="0">
                <a:latin typeface="Times New Roman" panose="02020603050405020304" pitchFamily="18" charset="0"/>
                <a:cs typeface="Times New Roman" panose="02020603050405020304" pitchFamily="18" charset="0"/>
              </a:rPr>
              <a:t>Which department receives the highest total bonuses?</a:t>
            </a:r>
          </a:p>
          <a:p>
            <a:endParaRPr lang="en-IN" sz="1400" b="1" dirty="0">
              <a:latin typeface="Times New Roman" panose="02020603050405020304" pitchFamily="18" charset="0"/>
              <a:cs typeface="Times New Roman" panose="02020603050405020304" pitchFamily="18" charset="0"/>
            </a:endParaRPr>
          </a:p>
          <a:p>
            <a:endParaRPr lang="en-IN" sz="1400" b="1" dirty="0">
              <a:latin typeface="Times New Roman" panose="02020603050405020304" pitchFamily="18" charset="0"/>
              <a:cs typeface="Times New Roman" panose="02020603050405020304" pitchFamily="18" charset="0"/>
            </a:endParaRPr>
          </a:p>
          <a:p>
            <a:r>
              <a:rPr lang="en-IN" sz="2800" b="1" dirty="0">
                <a:latin typeface="Times New Roman" panose="02020603050405020304" pitchFamily="18" charset="0"/>
                <a:cs typeface="Times New Roman" panose="02020603050405020304" pitchFamily="18" charset="0"/>
              </a:rPr>
              <a:t>Query                                             Output</a:t>
            </a:r>
          </a:p>
        </p:txBody>
      </p:sp>
    </p:spTree>
    <p:extLst>
      <p:ext uri="{BB962C8B-B14F-4D97-AF65-F5344CB8AC3E}">
        <p14:creationId xmlns:p14="http://schemas.microsoft.com/office/powerpoint/2010/main" val="112974888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4EED073-4C0B-6E44-036B-BE2FCF97BF92}"/>
              </a:ext>
            </a:extLst>
          </p:cNvPr>
          <p:cNvSpPr txBox="1"/>
          <p:nvPr/>
        </p:nvSpPr>
        <p:spPr>
          <a:xfrm>
            <a:off x="294968" y="328758"/>
            <a:ext cx="10972800" cy="1908215"/>
          </a:xfrm>
          <a:prstGeom prst="rect">
            <a:avLst/>
          </a:prstGeom>
          <a:noFill/>
        </p:spPr>
        <p:txBody>
          <a:bodyPr wrap="square">
            <a:spAutoFit/>
          </a:bodyPr>
          <a:lstStyle/>
          <a:p>
            <a:r>
              <a:rPr lang="en-IN" sz="3000" b="1" dirty="0">
                <a:latin typeface="Times New Roman" panose="02020603050405020304" pitchFamily="18" charset="0"/>
                <a:cs typeface="Times New Roman" panose="02020603050405020304" pitchFamily="18" charset="0"/>
              </a:rPr>
              <a:t>What is the average value of total amount after considering leave deductions?</a:t>
            </a:r>
          </a:p>
          <a:p>
            <a:endParaRPr lang="en-IN" sz="3000" b="1" dirty="0">
              <a:latin typeface="Times New Roman" panose="02020603050405020304" pitchFamily="18" charset="0"/>
              <a:cs typeface="Times New Roman" panose="02020603050405020304" pitchFamily="18" charset="0"/>
            </a:endParaRPr>
          </a:p>
          <a:p>
            <a:r>
              <a:rPr lang="en-IN" sz="2800" b="1" dirty="0">
                <a:latin typeface="Times New Roman" panose="02020603050405020304" pitchFamily="18" charset="0"/>
                <a:cs typeface="Times New Roman" panose="02020603050405020304" pitchFamily="18" charset="0"/>
              </a:rPr>
              <a:t>  Query                                           Output</a:t>
            </a:r>
          </a:p>
        </p:txBody>
      </p:sp>
      <p:pic>
        <p:nvPicPr>
          <p:cNvPr id="11" name="Picture 10">
            <a:extLst>
              <a:ext uri="{FF2B5EF4-FFF2-40B4-BE49-F238E27FC236}">
                <a16:creationId xmlns:a16="http://schemas.microsoft.com/office/drawing/2014/main" id="{F07A02E4-0CDD-114D-8847-0CF474DEF851}"/>
              </a:ext>
            </a:extLst>
          </p:cNvPr>
          <p:cNvPicPr>
            <a:picLocks noChangeAspect="1"/>
          </p:cNvPicPr>
          <p:nvPr/>
        </p:nvPicPr>
        <p:blipFill>
          <a:blip r:embed="rId2"/>
          <a:stretch>
            <a:fillRect/>
          </a:stretch>
        </p:blipFill>
        <p:spPr>
          <a:xfrm>
            <a:off x="147484" y="3282500"/>
            <a:ext cx="3507409" cy="1219200"/>
          </a:xfrm>
          <a:prstGeom prst="rect">
            <a:avLst/>
          </a:prstGeom>
        </p:spPr>
      </p:pic>
      <p:pic>
        <p:nvPicPr>
          <p:cNvPr id="9" name="Picture 8">
            <a:extLst>
              <a:ext uri="{FF2B5EF4-FFF2-40B4-BE49-F238E27FC236}">
                <a16:creationId xmlns:a16="http://schemas.microsoft.com/office/drawing/2014/main" id="{C9C08394-C33A-F0E2-B599-87F64B28F17A}"/>
              </a:ext>
            </a:extLst>
          </p:cNvPr>
          <p:cNvPicPr>
            <a:picLocks noChangeAspect="1"/>
          </p:cNvPicPr>
          <p:nvPr/>
        </p:nvPicPr>
        <p:blipFill>
          <a:blip r:embed="rId3"/>
          <a:stretch>
            <a:fillRect/>
          </a:stretch>
        </p:blipFill>
        <p:spPr>
          <a:xfrm>
            <a:off x="5122607" y="3429000"/>
            <a:ext cx="2433830" cy="590632"/>
          </a:xfrm>
          <a:prstGeom prst="rect">
            <a:avLst/>
          </a:prstGeom>
        </p:spPr>
      </p:pic>
      <p:pic>
        <p:nvPicPr>
          <p:cNvPr id="6" name="Picture 5">
            <a:extLst>
              <a:ext uri="{FF2B5EF4-FFF2-40B4-BE49-F238E27FC236}">
                <a16:creationId xmlns:a16="http://schemas.microsoft.com/office/drawing/2014/main" id="{77EBFE3E-B0B3-3B97-7461-976E7C599736}"/>
              </a:ext>
            </a:extLst>
          </p:cNvPr>
          <p:cNvPicPr>
            <a:picLocks noChangeAspect="1"/>
          </p:cNvPicPr>
          <p:nvPr/>
        </p:nvPicPr>
        <p:blipFill>
          <a:blip r:embed="rId4"/>
          <a:stretch>
            <a:fillRect/>
          </a:stretch>
        </p:blipFill>
        <p:spPr>
          <a:xfrm>
            <a:off x="8181560" y="2236973"/>
            <a:ext cx="3274703" cy="2362697"/>
          </a:xfrm>
          <a:prstGeom prst="rect">
            <a:avLst/>
          </a:prstGeom>
        </p:spPr>
      </p:pic>
    </p:spTree>
    <p:extLst>
      <p:ext uri="{BB962C8B-B14F-4D97-AF65-F5344CB8AC3E}">
        <p14:creationId xmlns:p14="http://schemas.microsoft.com/office/powerpoint/2010/main" val="24417788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84DE4B-D239-1150-C008-8C8488B15C00}"/>
              </a:ext>
            </a:extLst>
          </p:cNvPr>
          <p:cNvSpPr>
            <a:spLocks noGrp="1"/>
          </p:cNvSpPr>
          <p:nvPr>
            <p:ph type="title"/>
          </p:nvPr>
        </p:nvSpPr>
        <p:spPr>
          <a:xfrm>
            <a:off x="560614" y="-103977"/>
            <a:ext cx="10515600" cy="1325563"/>
          </a:xfrm>
        </p:spPr>
        <p:txBody>
          <a:bodyPr/>
          <a:lstStyle/>
          <a:p>
            <a:pPr algn="ctr"/>
            <a:r>
              <a:rPr lang="en-US" dirty="0"/>
              <a:t>INSIGHTS</a:t>
            </a:r>
            <a:endParaRPr lang="en-IN" dirty="0"/>
          </a:p>
        </p:txBody>
      </p:sp>
      <p:sp>
        <p:nvSpPr>
          <p:cNvPr id="4" name="TextBox 3">
            <a:extLst>
              <a:ext uri="{FF2B5EF4-FFF2-40B4-BE49-F238E27FC236}">
                <a16:creationId xmlns:a16="http://schemas.microsoft.com/office/drawing/2014/main" id="{565EDB15-DA4C-F1CA-36F8-6C28266BBB2D}"/>
              </a:ext>
            </a:extLst>
          </p:cNvPr>
          <p:cNvSpPr txBox="1"/>
          <p:nvPr/>
        </p:nvSpPr>
        <p:spPr>
          <a:xfrm>
            <a:off x="405493" y="1398566"/>
            <a:ext cx="11381014" cy="4653133"/>
          </a:xfrm>
          <a:prstGeom prst="rect">
            <a:avLst/>
          </a:prstGeom>
          <a:noFill/>
        </p:spPr>
        <p:txBody>
          <a:bodyPr wrap="square">
            <a:spAutoFit/>
          </a:bodyPr>
          <a:lstStyle/>
          <a:p>
            <a:pPr marL="342900" indent="-342900">
              <a:lnSpc>
                <a:spcPct val="150000"/>
              </a:lnSpc>
              <a:buFont typeface="Wingdings" panose="05000000000000000000" pitchFamily="2" charset="2"/>
              <a:buChar char="§"/>
            </a:pPr>
            <a:r>
              <a:rPr lang="en-US" sz="2000" dirty="0"/>
              <a:t>The </a:t>
            </a:r>
            <a:r>
              <a:rPr lang="en-US" sz="2000" b="1" dirty="0"/>
              <a:t>Employee Management System (EMS)</a:t>
            </a:r>
            <a:r>
              <a:rPr lang="en-US" sz="2000" dirty="0"/>
              <a:t> brings all employee and HR data together in one place, making it more accurate and easier to access.</a:t>
            </a:r>
          </a:p>
          <a:p>
            <a:pPr marL="342900" indent="-342900">
              <a:lnSpc>
                <a:spcPct val="150000"/>
              </a:lnSpc>
              <a:buFont typeface="Wingdings" panose="05000000000000000000" pitchFamily="2" charset="2"/>
              <a:buChar char="§"/>
            </a:pPr>
            <a:r>
              <a:rPr lang="en-US" sz="2000" dirty="0"/>
              <a:t>The system automatically manages things like </a:t>
            </a:r>
            <a:r>
              <a:rPr lang="en-US" sz="2000" b="1" dirty="0"/>
              <a:t>salary calculations (payroll)</a:t>
            </a:r>
            <a:r>
              <a:rPr lang="en-US" sz="2000" dirty="0"/>
              <a:t>, </a:t>
            </a:r>
            <a:r>
              <a:rPr lang="en-US" sz="2000" b="1" dirty="0"/>
              <a:t>employee leave requests and approvals</a:t>
            </a:r>
            <a:r>
              <a:rPr lang="en-US" sz="2000" dirty="0"/>
              <a:t>, and storing or updating employee records.</a:t>
            </a:r>
          </a:p>
          <a:p>
            <a:pPr marL="342900" indent="-342900">
              <a:lnSpc>
                <a:spcPct val="150000"/>
              </a:lnSpc>
              <a:buFont typeface="Wingdings" panose="05000000000000000000" pitchFamily="2" charset="2"/>
              <a:buChar char="§"/>
            </a:pPr>
            <a:r>
              <a:rPr lang="en-US" sz="2000" dirty="0"/>
              <a:t>By analyzing departments and job roles, it shows that skilled positions usually get higher salaries and bonuses.</a:t>
            </a:r>
          </a:p>
          <a:p>
            <a:pPr marL="342900" indent="-342900">
              <a:lnSpc>
                <a:spcPct val="150000"/>
              </a:lnSpc>
              <a:buFont typeface="Wingdings" panose="05000000000000000000" pitchFamily="2" charset="2"/>
              <a:buChar char="§"/>
            </a:pPr>
            <a:r>
              <a:rPr lang="en-US" sz="2000" dirty="0"/>
              <a:t>The system also helps identify training needs and supports promotions based on employee qualifications.</a:t>
            </a:r>
          </a:p>
          <a:p>
            <a:pPr marL="342900" indent="-342900">
              <a:lnSpc>
                <a:spcPct val="150000"/>
              </a:lnSpc>
              <a:buFont typeface="Wingdings" panose="05000000000000000000" pitchFamily="2" charset="2"/>
              <a:buChar char="§"/>
            </a:pPr>
            <a:r>
              <a:rPr lang="en-US" sz="2000" dirty="0"/>
              <a:t>Overall, EMS improves efficiency, helps in better decision-making, and makes HR work smoother and smarter</a:t>
            </a:r>
            <a:endParaRPr lang="en-US" sz="2000" dirty="0">
              <a:latin typeface="Sitka Display" pitchFamily="2" charset="0"/>
            </a:endParaRPr>
          </a:p>
        </p:txBody>
      </p:sp>
    </p:spTree>
    <p:extLst>
      <p:ext uri="{BB962C8B-B14F-4D97-AF65-F5344CB8AC3E}">
        <p14:creationId xmlns:p14="http://schemas.microsoft.com/office/powerpoint/2010/main" val="279075811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alphaModFix/>
          </a:blip>
          <a:srcRect/>
          <a:stretch/>
        </p:blipFill>
        <p:spPr>
          <a:xfrm>
            <a:off x="6466516" y="1850749"/>
            <a:ext cx="4465643" cy="2834317"/>
          </a:xfrm>
          <a:prstGeom prst="rect">
            <a:avLst/>
          </a:prstGeom>
          <a:noFill/>
          <a:ln>
            <a:noFill/>
          </a:ln>
        </p:spPr>
      </p:pic>
      <p:sp>
        <p:nvSpPr>
          <p:cNvPr id="117" name="Google Shape;117;p5"/>
          <p:cNvSpPr txBox="1"/>
          <p:nvPr/>
        </p:nvSpPr>
        <p:spPr>
          <a:xfrm>
            <a:off x="1097116" y="1286387"/>
            <a:ext cx="3661836" cy="1348658"/>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C00000"/>
              </a:buClr>
              <a:buSzPts val="4400"/>
              <a:buFont typeface="Libre Baskerville"/>
              <a:buNone/>
            </a:pPr>
            <a:r>
              <a:rPr lang="en-IN" sz="4400" b="0" i="0" u="none" strike="noStrike" cap="none" dirty="0">
                <a:solidFill>
                  <a:srgbClr val="C00000"/>
                </a:solidFill>
                <a:latin typeface="Libre Baskerville"/>
                <a:ea typeface="Libre Baskerville"/>
                <a:cs typeface="Libre Baskerville"/>
                <a:sym typeface="Libre Baskerville"/>
              </a:rPr>
              <a:t>THANK YOU</a:t>
            </a:r>
            <a:endParaRPr sz="1800" b="0" i="0" u="none" strike="noStrike" cap="none" dirty="0">
              <a:solidFill>
                <a:schemeClr val="dk1"/>
              </a:solidFill>
              <a:latin typeface="Calibri"/>
              <a:ea typeface="Calibri"/>
              <a:cs typeface="Calibri"/>
              <a:sym typeface="Calibri"/>
            </a:endParaRPr>
          </a:p>
        </p:txBody>
      </p:sp>
      <p:sp>
        <p:nvSpPr>
          <p:cNvPr id="3" name="TextBox 2">
            <a:extLst>
              <a:ext uri="{FF2B5EF4-FFF2-40B4-BE49-F238E27FC236}">
                <a16:creationId xmlns:a16="http://schemas.microsoft.com/office/drawing/2014/main" id="{A2EABA91-8024-6829-640A-0E65A7060152}"/>
              </a:ext>
            </a:extLst>
          </p:cNvPr>
          <p:cNvSpPr txBox="1"/>
          <p:nvPr/>
        </p:nvSpPr>
        <p:spPr>
          <a:xfrm>
            <a:off x="1533831" y="4685066"/>
            <a:ext cx="7561007" cy="1246495"/>
          </a:xfrm>
          <a:prstGeom prst="rect">
            <a:avLst/>
          </a:prstGeom>
          <a:noFill/>
        </p:spPr>
        <p:txBody>
          <a:bodyPr wrap="square">
            <a:spAutoFit/>
          </a:bodyPr>
          <a:lstStyle/>
          <a:p>
            <a:pPr lvl="0" algn="ctr">
              <a:buSzPts val="1800"/>
            </a:pPr>
            <a:r>
              <a:rPr lang="en-IN" sz="2500" b="1" i="0" u="none" strike="noStrike" cap="none" dirty="0">
                <a:solidFill>
                  <a:srgbClr val="000000"/>
                </a:solidFill>
                <a:latin typeface="+mj-lt"/>
                <a:ea typeface="Arial"/>
                <a:cs typeface="Arial"/>
                <a:sym typeface="Arial"/>
              </a:rPr>
              <a:t> Presented By</a:t>
            </a:r>
          </a:p>
          <a:p>
            <a:pPr lvl="0" algn="ctr">
              <a:buSzPts val="1800"/>
            </a:pPr>
            <a:r>
              <a:rPr lang="en-IN" sz="2500" b="1" dirty="0">
                <a:latin typeface="+mj-lt"/>
              </a:rPr>
              <a:t> </a:t>
            </a:r>
            <a:r>
              <a:rPr lang="en-IN" sz="2500" b="1">
                <a:latin typeface="+mj-lt"/>
              </a:rPr>
              <a:t>Nishwitha </a:t>
            </a:r>
            <a:r>
              <a:rPr lang="en-IN" sz="2500" b="1" dirty="0">
                <a:latin typeface="+mj-lt"/>
              </a:rPr>
              <a:t>A</a:t>
            </a:r>
          </a:p>
          <a:p>
            <a:pPr lvl="0" algn="ctr">
              <a:buSzPts val="1800"/>
            </a:pPr>
            <a:r>
              <a:rPr lang="en-IN" sz="2500" b="1" dirty="0">
                <a:latin typeface="+mj-lt"/>
              </a:rPr>
              <a:t> Shreya  S  </a:t>
            </a:r>
            <a:endParaRPr lang="en-IN" sz="2500" dirty="0">
              <a:latin typeface="+mj-l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1442</TotalTime>
  <Words>652</Words>
  <Application>Microsoft Office PowerPoint</Application>
  <PresentationFormat>Widescreen</PresentationFormat>
  <Paragraphs>128</Paragraphs>
  <Slides>28</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28</vt:i4>
      </vt:variant>
    </vt:vector>
  </HeadingPairs>
  <TitlesOfParts>
    <vt:vector size="35" baseType="lpstr">
      <vt:lpstr>Wingdings</vt:lpstr>
      <vt:lpstr>Arial</vt:lpstr>
      <vt:lpstr>Times New Roman</vt:lpstr>
      <vt:lpstr>Libre Baskerville</vt:lpstr>
      <vt:lpstr>Calibri</vt:lpstr>
      <vt:lpstr>Sitka Display</vt:lpstr>
      <vt:lpstr>Office Theme</vt:lpstr>
      <vt:lpstr>PowerPoint Presentation</vt:lpstr>
      <vt:lpstr>PowerPoint Presentation</vt:lpstr>
      <vt:lpstr>ER Diagram  </vt:lpstr>
      <vt:lpstr>PowerPoint Presentation</vt:lpstr>
      <vt:lpstr>PROBLEM STATEMENT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INSIGHTS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Raghu Ram Aduri</dc:creator>
  <cp:lastModifiedBy>shreyasaidugari@outlook.com</cp:lastModifiedBy>
  <cp:revision>15</cp:revision>
  <dcterms:created xsi:type="dcterms:W3CDTF">2021-02-16T05:19:01Z</dcterms:created>
  <dcterms:modified xsi:type="dcterms:W3CDTF">2025-10-17T15:04:15Z</dcterms:modified>
</cp:coreProperties>
</file>